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 Id="rId26" Type="http://schemas.openxmlformats.org/officeDocument/2006/relationships/font" Target="fonts/font5.fntdata"/><Relationship Id="rId27"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0-1.png"/><Relationship Id="rId2" Type="http://schemas.openxmlformats.org/officeDocument/2006/relationships/image" Target="../media/image-1010-2.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1-1.png"/><Relationship Id="rId2" Type="http://schemas.openxmlformats.org/officeDocument/2006/relationships/image" Target="../media/image-1011-2.png"/><Relationship Id="rId4"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2-1.png"/><Relationship Id="rId2" Type="http://schemas.openxmlformats.org/officeDocument/2006/relationships/image" Target="../media/image-1012-2.png"/><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3-1.png"/><Relationship Id="rId2" Type="http://schemas.openxmlformats.org/officeDocument/2006/relationships/image" Target="../media/image-1013-2.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4-1.png"/><Relationship Id="rId2" Type="http://schemas.openxmlformats.org/officeDocument/2006/relationships/image" Target="../media/image-1014-2.png"/><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5-1.png"/><Relationship Id="rId2" Type="http://schemas.openxmlformats.org/officeDocument/2006/relationships/image" Target="../media/image-1015-2.png"/><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16-1.png"/><Relationship Id="rId2" Type="http://schemas.openxmlformats.org/officeDocument/2006/relationships/image" Target="../media/image-1016-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6.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7.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8.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sv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svg"/><Relationship Id="rId11" Type="http://schemas.openxmlformats.org/officeDocument/2006/relationships/slideLayout" Target="../slideLayouts/slideLayout14.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6.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2564011"/>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F2E782"/>
                </a:solidFill>
                <a:latin typeface="Prata" pitchFamily="34" charset="0"/>
                <a:ea typeface="Prata" pitchFamily="34" charset="-122"/>
                <a:cs typeface="Prata" pitchFamily="34" charset="-120"/>
              </a:rPr>
              <a:t>Football Player Performance Analysis</a:t>
            </a:r>
            <a:endParaRPr lang="en-US" sz="4450" dirty="0"/>
          </a:p>
        </p:txBody>
      </p:sp>
      <p:sp>
        <p:nvSpPr>
          <p:cNvPr id="4" name="Text 1"/>
          <p:cNvSpPr/>
          <p:nvPr/>
        </p:nvSpPr>
        <p:spPr>
          <a:xfrm>
            <a:off x="6280190" y="4321731"/>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CFCBBF"/>
                </a:solidFill>
                <a:latin typeface="Raleway" pitchFamily="34" charset="0"/>
                <a:ea typeface="Raleway" pitchFamily="34" charset="-122"/>
                <a:cs typeface="Raleway" pitchFamily="34" charset="-120"/>
              </a:rPr>
              <a:t>A comprehensive data analytics project examining performance metrics across leagues and identifying key efficiency drivers</a:t>
            </a:r>
            <a:endParaRPr lang="en-US" sz="1750" dirty="0"/>
          </a:p>
        </p:txBody>
      </p:sp>
      <p:sp>
        <p:nvSpPr>
          <p:cNvPr id="5" name="Text 2"/>
          <p:cNvSpPr/>
          <p:nvPr/>
        </p:nvSpPr>
        <p:spPr>
          <a:xfrm>
            <a:off x="6280190" y="5302687"/>
            <a:ext cx="7556421" cy="362903"/>
          </a:xfrm>
          <a:prstGeom prst="rect">
            <a:avLst/>
          </a:prstGeom>
          <a:noFill/>
          <a:ln/>
        </p:spPr>
        <p:txBody>
          <a:bodyPr wrap="none" lIns="0" tIns="0" rIns="0" bIns="0" rtlCol="0" anchor="t"/>
          <a:lstStyle/>
          <a:p>
            <a:pPr algn="l" indent="0" marL="0">
              <a:lnSpc>
                <a:spcPts val="2850"/>
              </a:lnSpc>
              <a:buNone/>
            </a:pPr>
            <a:r>
              <a:rPr lang="en-US" sz="1750" b="1" dirty="0">
                <a:solidFill>
                  <a:srgbClr val="CFCBBF"/>
                </a:solidFill>
                <a:latin typeface="Raleway" pitchFamily="34" charset="0"/>
                <a:ea typeface="Raleway" pitchFamily="34" charset="-122"/>
                <a:cs typeface="Raleway" pitchFamily="34" charset="-120"/>
              </a:rPr>
              <a:t>Prepared By:</a:t>
            </a:r>
            <a:pPr algn="l" indent="0" marL="0">
              <a:lnSpc>
                <a:spcPts val="2850"/>
              </a:lnSpc>
              <a:buNone/>
            </a:pPr>
            <a:r>
              <a:rPr lang="en-US" sz="1750" dirty="0">
                <a:solidFill>
                  <a:srgbClr val="CFCBBF"/>
                </a:solidFill>
                <a:latin typeface="Raleway" pitchFamily="34" charset="0"/>
                <a:ea typeface="Raleway" pitchFamily="34" charset="-122"/>
                <a:cs typeface="Raleway" pitchFamily="34" charset="-120"/>
              </a:rPr>
              <a:t> Jayadev H | </a:t>
            </a:r>
            <a:pPr algn="l" indent="0" marL="0">
              <a:lnSpc>
                <a:spcPts val="2850"/>
              </a:lnSpc>
              <a:buNone/>
            </a:pPr>
            <a:r>
              <a:rPr lang="en-US" sz="1750" b="1" dirty="0">
                <a:solidFill>
                  <a:srgbClr val="CFCBBF"/>
                </a:solidFill>
                <a:latin typeface="Raleway" pitchFamily="34" charset="0"/>
                <a:ea typeface="Raleway" pitchFamily="34" charset="-122"/>
                <a:cs typeface="Raleway" pitchFamily="34" charset="-120"/>
              </a:rPr>
              <a:t>Focus:</a:t>
            </a:r>
            <a:pPr algn="l" indent="0" marL="0">
              <a:lnSpc>
                <a:spcPts val="2850"/>
              </a:lnSpc>
              <a:buNone/>
            </a:pPr>
            <a:r>
              <a:rPr lang="en-US" sz="1750" dirty="0">
                <a:solidFill>
                  <a:srgbClr val="CFCBBF"/>
                </a:solidFill>
                <a:latin typeface="Raleway" pitchFamily="34" charset="0"/>
                <a:ea typeface="Raleway" pitchFamily="34" charset="-122"/>
                <a:cs typeface="Raleway" pitchFamily="34" charset="-120"/>
              </a:rPr>
              <a:t> Performance Analytics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262658"/>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2E782"/>
                </a:solidFill>
                <a:latin typeface="Prata" pitchFamily="34" charset="0"/>
                <a:ea typeface="Prata" pitchFamily="34" charset="-122"/>
                <a:cs typeface="Prata" pitchFamily="34" charset="-120"/>
              </a:rPr>
              <a:t>Executive Summary</a:t>
            </a:r>
            <a:endParaRPr lang="en-US" sz="4450" dirty="0"/>
          </a:p>
        </p:txBody>
      </p:sp>
      <p:sp>
        <p:nvSpPr>
          <p:cNvPr id="4" name="Shape 1"/>
          <p:cNvSpPr/>
          <p:nvPr/>
        </p:nvSpPr>
        <p:spPr>
          <a:xfrm>
            <a:off x="6280190" y="2311598"/>
            <a:ext cx="3664744" cy="2758559"/>
          </a:xfrm>
          <a:prstGeom prst="roundRect">
            <a:avLst>
              <a:gd name="adj" fmla="val 1233"/>
            </a:avLst>
          </a:prstGeom>
          <a:solidFill>
            <a:srgbClr val="3A3B3C"/>
          </a:solidFill>
          <a:ln/>
        </p:spPr>
      </p:sp>
      <p:sp>
        <p:nvSpPr>
          <p:cNvPr id="5" name="Text 2"/>
          <p:cNvSpPr/>
          <p:nvPr/>
        </p:nvSpPr>
        <p:spPr>
          <a:xfrm>
            <a:off x="6507004" y="253841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CBBF"/>
                </a:solidFill>
                <a:latin typeface="Prata" pitchFamily="34" charset="0"/>
                <a:ea typeface="Prata" pitchFamily="34" charset="-122"/>
                <a:cs typeface="Prata" pitchFamily="34" charset="-120"/>
              </a:rPr>
              <a:t>Objective</a:t>
            </a:r>
            <a:endParaRPr lang="en-US" sz="2200" dirty="0"/>
          </a:p>
        </p:txBody>
      </p:sp>
      <p:sp>
        <p:nvSpPr>
          <p:cNvPr id="6" name="Text 3"/>
          <p:cNvSpPr/>
          <p:nvPr/>
        </p:nvSpPr>
        <p:spPr>
          <a:xfrm>
            <a:off x="6507004" y="3028831"/>
            <a:ext cx="3211116" cy="1814513"/>
          </a:xfrm>
          <a:prstGeom prst="rect">
            <a:avLst/>
          </a:prstGeom>
          <a:noFill/>
          <a:ln/>
        </p:spPr>
        <p:txBody>
          <a:bodyPr wrap="square" lIns="0" tIns="0" rIns="0" bIns="0" rtlCol="0" anchor="t"/>
          <a:lstStyle/>
          <a:p>
            <a:pPr algn="l" indent="0" marL="0">
              <a:lnSpc>
                <a:spcPts val="2850"/>
              </a:lnSpc>
              <a:buNone/>
            </a:pPr>
            <a:r>
              <a:rPr lang="en-US" sz="1750" dirty="0">
                <a:solidFill>
                  <a:srgbClr val="CFCBBF"/>
                </a:solidFill>
                <a:latin typeface="Raleway" pitchFamily="34" charset="0"/>
                <a:ea typeface="Raleway" pitchFamily="34" charset="-122"/>
                <a:cs typeface="Raleway" pitchFamily="34" charset="-120"/>
              </a:rPr>
              <a:t>Analyze football player performance using statistical methods and data visualization to identify key performance drivers</a:t>
            </a:r>
            <a:endParaRPr lang="en-US" sz="1750" dirty="0"/>
          </a:p>
        </p:txBody>
      </p:sp>
      <p:sp>
        <p:nvSpPr>
          <p:cNvPr id="7" name="Shape 4"/>
          <p:cNvSpPr/>
          <p:nvPr/>
        </p:nvSpPr>
        <p:spPr>
          <a:xfrm>
            <a:off x="10171748" y="2311598"/>
            <a:ext cx="3664863" cy="2758559"/>
          </a:xfrm>
          <a:prstGeom prst="roundRect">
            <a:avLst>
              <a:gd name="adj" fmla="val 1233"/>
            </a:avLst>
          </a:prstGeom>
          <a:solidFill>
            <a:srgbClr val="3A3B3C"/>
          </a:solidFill>
          <a:ln/>
        </p:spPr>
      </p:sp>
      <p:sp>
        <p:nvSpPr>
          <p:cNvPr id="8" name="Text 5"/>
          <p:cNvSpPr/>
          <p:nvPr/>
        </p:nvSpPr>
        <p:spPr>
          <a:xfrm>
            <a:off x="10398562" y="253841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CBBF"/>
                </a:solidFill>
                <a:latin typeface="Prata" pitchFamily="34" charset="0"/>
                <a:ea typeface="Prata" pitchFamily="34" charset="-122"/>
                <a:cs typeface="Prata" pitchFamily="34" charset="-120"/>
              </a:rPr>
              <a:t>Approach</a:t>
            </a:r>
            <a:endParaRPr lang="en-US" sz="2200" dirty="0"/>
          </a:p>
        </p:txBody>
      </p:sp>
      <p:sp>
        <p:nvSpPr>
          <p:cNvPr id="9" name="Text 6"/>
          <p:cNvSpPr/>
          <p:nvPr/>
        </p:nvSpPr>
        <p:spPr>
          <a:xfrm>
            <a:off x="10398562" y="3028831"/>
            <a:ext cx="3211235" cy="1451610"/>
          </a:xfrm>
          <a:prstGeom prst="rect">
            <a:avLst/>
          </a:prstGeom>
          <a:noFill/>
          <a:ln/>
        </p:spPr>
        <p:txBody>
          <a:bodyPr wrap="square" lIns="0" tIns="0" rIns="0" bIns="0" rtlCol="0" anchor="t"/>
          <a:lstStyle/>
          <a:p>
            <a:pPr algn="l" indent="0" marL="0">
              <a:lnSpc>
                <a:spcPts val="2850"/>
              </a:lnSpc>
              <a:buNone/>
            </a:pPr>
            <a:r>
              <a:rPr lang="en-US" sz="1750" dirty="0">
                <a:solidFill>
                  <a:srgbClr val="CFCBBF"/>
                </a:solidFill>
                <a:latin typeface="Raleway" pitchFamily="34" charset="0"/>
                <a:ea typeface="Raleway" pitchFamily="34" charset="-122"/>
                <a:cs typeface="Raleway" pitchFamily="34" charset="-120"/>
              </a:rPr>
              <a:t>Systematic data cleaning, exploratory data analysis, and visual analytics to extract meaningful patterns</a:t>
            </a:r>
            <a:endParaRPr lang="en-US" sz="1750" dirty="0"/>
          </a:p>
        </p:txBody>
      </p:sp>
      <p:sp>
        <p:nvSpPr>
          <p:cNvPr id="10" name="Shape 7"/>
          <p:cNvSpPr/>
          <p:nvPr/>
        </p:nvSpPr>
        <p:spPr>
          <a:xfrm>
            <a:off x="6280190" y="5296972"/>
            <a:ext cx="7556421" cy="1669852"/>
          </a:xfrm>
          <a:prstGeom prst="roundRect">
            <a:avLst>
              <a:gd name="adj" fmla="val 2038"/>
            </a:avLst>
          </a:prstGeom>
          <a:solidFill>
            <a:srgbClr val="3A3B3C"/>
          </a:solidFill>
          <a:ln/>
        </p:spPr>
      </p:sp>
      <p:sp>
        <p:nvSpPr>
          <p:cNvPr id="11" name="Text 8"/>
          <p:cNvSpPr/>
          <p:nvPr/>
        </p:nvSpPr>
        <p:spPr>
          <a:xfrm>
            <a:off x="6507004" y="552378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CBBF"/>
                </a:solidFill>
                <a:latin typeface="Prata" pitchFamily="34" charset="0"/>
                <a:ea typeface="Prata" pitchFamily="34" charset="-122"/>
                <a:cs typeface="Prata" pitchFamily="34" charset="-120"/>
              </a:rPr>
              <a:t>Outcome</a:t>
            </a:r>
            <a:endParaRPr lang="en-US" sz="2200" dirty="0"/>
          </a:p>
        </p:txBody>
      </p:sp>
      <p:sp>
        <p:nvSpPr>
          <p:cNvPr id="12" name="Text 9"/>
          <p:cNvSpPr/>
          <p:nvPr/>
        </p:nvSpPr>
        <p:spPr>
          <a:xfrm>
            <a:off x="6507004" y="6014204"/>
            <a:ext cx="7102793" cy="725805"/>
          </a:xfrm>
          <a:prstGeom prst="rect">
            <a:avLst/>
          </a:prstGeom>
          <a:noFill/>
          <a:ln/>
        </p:spPr>
        <p:txBody>
          <a:bodyPr wrap="square" lIns="0" tIns="0" rIns="0" bIns="0" rtlCol="0" anchor="t"/>
          <a:lstStyle/>
          <a:p>
            <a:pPr algn="l" indent="0" marL="0">
              <a:lnSpc>
                <a:spcPts val="2850"/>
              </a:lnSpc>
              <a:buNone/>
            </a:pPr>
            <a:r>
              <a:rPr lang="en-US" sz="1750" dirty="0">
                <a:solidFill>
                  <a:srgbClr val="CFCBBF"/>
                </a:solidFill>
                <a:latin typeface="Raleway" pitchFamily="34" charset="0"/>
                <a:ea typeface="Raleway" pitchFamily="34" charset="-122"/>
                <a:cs typeface="Raleway" pitchFamily="34" charset="-120"/>
              </a:rPr>
              <a:t>Identified performance trends, efficiency metrics, and actionable insights for player evaluation</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023342"/>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2E782"/>
                </a:solidFill>
                <a:latin typeface="Prata" pitchFamily="34" charset="0"/>
                <a:ea typeface="Prata" pitchFamily="34" charset="-122"/>
                <a:cs typeface="Prata" pitchFamily="34" charset="-120"/>
              </a:rPr>
              <a:t>Problem Statement</a:t>
            </a:r>
            <a:endParaRPr lang="en-US" sz="4450" dirty="0"/>
          </a:p>
        </p:txBody>
      </p:sp>
      <p:sp>
        <p:nvSpPr>
          <p:cNvPr id="3" name="Text 1"/>
          <p:cNvSpPr/>
          <p:nvPr/>
        </p:nvSpPr>
        <p:spPr>
          <a:xfrm>
            <a:off x="793790" y="248900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2E782"/>
                </a:solidFill>
                <a:latin typeface="Prata" pitchFamily="34" charset="0"/>
                <a:ea typeface="Prata" pitchFamily="34" charset="-122"/>
                <a:cs typeface="Prata" pitchFamily="34" charset="-120"/>
              </a:rPr>
              <a:t>Primary Questions</a:t>
            </a:r>
            <a:endParaRPr lang="en-US" sz="2200" dirty="0"/>
          </a:p>
        </p:txBody>
      </p:sp>
      <p:sp>
        <p:nvSpPr>
          <p:cNvPr id="4" name="Text 2"/>
          <p:cNvSpPr/>
          <p:nvPr/>
        </p:nvSpPr>
        <p:spPr>
          <a:xfrm>
            <a:off x="793790" y="3070146"/>
            <a:ext cx="4205168" cy="3866912"/>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How do key metrics (goals, assists, matches) relate to overall player efficiency?</a:t>
            </a:r>
            <a:endParaRPr lang="en-US" sz="1750" dirty="0"/>
          </a:p>
          <a:p>
            <a:pPr algn="l" marL="342900" indent="-342900">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What patterns emerge in goal-scoring behavior across different players?</a:t>
            </a:r>
            <a:endParaRPr lang="en-US" sz="1750" dirty="0"/>
          </a:p>
          <a:p>
            <a:pPr algn="l" marL="342900" indent="-342900">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How does performance vary between teams and leagues?</a:t>
            </a:r>
            <a:endParaRPr lang="en-US" sz="1750" dirty="0"/>
          </a:p>
          <a:p>
            <a:pPr algn="l" marL="342900" indent="-342900">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Which derived metrics best predict success?</a:t>
            </a:r>
            <a:endParaRPr lang="en-US" sz="1750" dirty="0"/>
          </a:p>
        </p:txBody>
      </p:sp>
      <p:pic>
        <p:nvPicPr>
          <p:cNvPr id="5" name="Image 0" descr="preencoded.png">    </p:cNvPr>
          <p:cNvPicPr>
            <a:picLocks noChangeAspect="1"/>
          </p:cNvPicPr>
          <p:nvPr/>
        </p:nvPicPr>
        <p:blipFill>
          <a:blip r:embed="rId1"/>
          <a:stretch>
            <a:fillRect/>
          </a:stretch>
        </p:blipFill>
        <p:spPr>
          <a:xfrm>
            <a:off x="5559981" y="2327434"/>
            <a:ext cx="8284131" cy="462367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556266"/>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2E782"/>
                </a:solidFill>
                <a:latin typeface="Prata" pitchFamily="34" charset="0"/>
                <a:ea typeface="Prata" pitchFamily="34" charset="-122"/>
                <a:cs typeface="Prata" pitchFamily="34" charset="-120"/>
              </a:rPr>
              <a:t>Dataset Overview</a:t>
            </a:r>
            <a:endParaRPr lang="en-US" sz="4450" dirty="0"/>
          </a:p>
        </p:txBody>
      </p:sp>
      <p:sp>
        <p:nvSpPr>
          <p:cNvPr id="4" name="Text 1"/>
          <p:cNvSpPr/>
          <p:nvPr/>
        </p:nvSpPr>
        <p:spPr>
          <a:xfrm>
            <a:off x="793790" y="2718554"/>
            <a:ext cx="2329815" cy="748427"/>
          </a:xfrm>
          <a:prstGeom prst="rect">
            <a:avLst/>
          </a:prstGeom>
          <a:noFill/>
          <a:ln/>
        </p:spPr>
        <p:txBody>
          <a:bodyPr wrap="none" lIns="0" tIns="0" rIns="0" bIns="0" rtlCol="0" anchor="t"/>
          <a:lstStyle/>
          <a:p>
            <a:pPr algn="ctr" indent="0" marL="0">
              <a:lnSpc>
                <a:spcPts val="5850"/>
              </a:lnSpc>
              <a:buNone/>
            </a:pPr>
            <a:r>
              <a:rPr lang="en-US" sz="5850" dirty="0">
                <a:solidFill>
                  <a:srgbClr val="CFCBBF"/>
                </a:solidFill>
                <a:latin typeface="Prata" pitchFamily="34" charset="0"/>
                <a:ea typeface="Prata" pitchFamily="34" charset="-122"/>
                <a:cs typeface="Prata" pitchFamily="34" charset="-120"/>
              </a:rPr>
              <a:t>1000</a:t>
            </a:r>
            <a:endParaRPr lang="en-US" sz="5850" dirty="0"/>
          </a:p>
        </p:txBody>
      </p:sp>
      <p:sp>
        <p:nvSpPr>
          <p:cNvPr id="5" name="Text 2"/>
          <p:cNvSpPr/>
          <p:nvPr/>
        </p:nvSpPr>
        <p:spPr>
          <a:xfrm>
            <a:off x="793790" y="3750350"/>
            <a:ext cx="2329815" cy="354330"/>
          </a:xfrm>
          <a:prstGeom prst="rect">
            <a:avLst/>
          </a:prstGeom>
          <a:noFill/>
          <a:ln/>
        </p:spPr>
        <p:txBody>
          <a:bodyPr wrap="none" lIns="0" tIns="0" rIns="0" bIns="0" rtlCol="0" anchor="t"/>
          <a:lstStyle/>
          <a:p>
            <a:pPr algn="ctr" indent="0" marL="0">
              <a:lnSpc>
                <a:spcPts val="2750"/>
              </a:lnSpc>
              <a:buNone/>
            </a:pPr>
            <a:r>
              <a:rPr lang="en-US" sz="2200" dirty="0">
                <a:solidFill>
                  <a:srgbClr val="CFCBBF"/>
                </a:solidFill>
                <a:latin typeface="Prata" pitchFamily="34" charset="0"/>
                <a:ea typeface="Prata" pitchFamily="34" charset="-122"/>
                <a:cs typeface="Prata" pitchFamily="34" charset="-120"/>
              </a:rPr>
              <a:t>Player Records</a:t>
            </a:r>
            <a:endParaRPr lang="en-US" sz="2200" dirty="0"/>
          </a:p>
        </p:txBody>
      </p:sp>
      <p:sp>
        <p:nvSpPr>
          <p:cNvPr id="6" name="Text 3"/>
          <p:cNvSpPr/>
          <p:nvPr/>
        </p:nvSpPr>
        <p:spPr>
          <a:xfrm>
            <a:off x="793790" y="4240768"/>
            <a:ext cx="2329815" cy="725805"/>
          </a:xfrm>
          <a:prstGeom prst="rect">
            <a:avLst/>
          </a:prstGeom>
          <a:noFill/>
          <a:ln/>
        </p:spPr>
        <p:txBody>
          <a:bodyPr wrap="square" lIns="0" tIns="0" rIns="0" bIns="0" rtlCol="0" anchor="t"/>
          <a:lstStyle/>
          <a:p>
            <a:pPr algn="ctr" indent="0" marL="0">
              <a:lnSpc>
                <a:spcPts val="2850"/>
              </a:lnSpc>
              <a:buNone/>
            </a:pPr>
            <a:r>
              <a:rPr lang="en-US" sz="1750" dirty="0">
                <a:solidFill>
                  <a:srgbClr val="CFCBBF"/>
                </a:solidFill>
                <a:latin typeface="Raleway" pitchFamily="34" charset="0"/>
                <a:ea typeface="Raleway" pitchFamily="34" charset="-122"/>
                <a:cs typeface="Raleway" pitchFamily="34" charset="-120"/>
              </a:rPr>
              <a:t>Complete season data</a:t>
            </a:r>
            <a:endParaRPr lang="en-US" sz="1750" dirty="0"/>
          </a:p>
        </p:txBody>
      </p:sp>
      <p:sp>
        <p:nvSpPr>
          <p:cNvPr id="7" name="Text 4"/>
          <p:cNvSpPr/>
          <p:nvPr/>
        </p:nvSpPr>
        <p:spPr>
          <a:xfrm>
            <a:off x="3407093" y="2718554"/>
            <a:ext cx="2329815" cy="748427"/>
          </a:xfrm>
          <a:prstGeom prst="rect">
            <a:avLst/>
          </a:prstGeom>
          <a:noFill/>
          <a:ln/>
        </p:spPr>
        <p:txBody>
          <a:bodyPr wrap="none" lIns="0" tIns="0" rIns="0" bIns="0" rtlCol="0" anchor="t"/>
          <a:lstStyle/>
          <a:p>
            <a:pPr algn="ctr" indent="0" marL="0">
              <a:lnSpc>
                <a:spcPts val="5850"/>
              </a:lnSpc>
              <a:buNone/>
            </a:pPr>
            <a:r>
              <a:rPr lang="en-US" sz="5850" dirty="0">
                <a:solidFill>
                  <a:srgbClr val="CFCBBF"/>
                </a:solidFill>
                <a:latin typeface="Prata" pitchFamily="34" charset="0"/>
                <a:ea typeface="Prata" pitchFamily="34" charset="-122"/>
                <a:cs typeface="Prata" pitchFamily="34" charset="-120"/>
              </a:rPr>
              <a:t>15</a:t>
            </a:r>
            <a:endParaRPr lang="en-US" sz="5850" dirty="0"/>
          </a:p>
        </p:txBody>
      </p:sp>
      <p:sp>
        <p:nvSpPr>
          <p:cNvPr id="8" name="Text 5"/>
          <p:cNvSpPr/>
          <p:nvPr/>
        </p:nvSpPr>
        <p:spPr>
          <a:xfrm>
            <a:off x="3407093" y="3750350"/>
            <a:ext cx="2329815" cy="354330"/>
          </a:xfrm>
          <a:prstGeom prst="rect">
            <a:avLst/>
          </a:prstGeom>
          <a:noFill/>
          <a:ln/>
        </p:spPr>
        <p:txBody>
          <a:bodyPr wrap="none" lIns="0" tIns="0" rIns="0" bIns="0" rtlCol="0" anchor="t"/>
          <a:lstStyle/>
          <a:p>
            <a:pPr algn="ctr" indent="0" marL="0">
              <a:lnSpc>
                <a:spcPts val="2750"/>
              </a:lnSpc>
              <a:buNone/>
            </a:pPr>
            <a:r>
              <a:rPr lang="en-US" sz="2200" dirty="0">
                <a:solidFill>
                  <a:srgbClr val="CFCBBF"/>
                </a:solidFill>
                <a:latin typeface="Prata" pitchFamily="34" charset="0"/>
                <a:ea typeface="Prata" pitchFamily="34" charset="-122"/>
                <a:cs typeface="Prata" pitchFamily="34" charset="-120"/>
              </a:rPr>
              <a:t>Variables</a:t>
            </a:r>
            <a:endParaRPr lang="en-US" sz="2200" dirty="0"/>
          </a:p>
        </p:txBody>
      </p:sp>
      <p:sp>
        <p:nvSpPr>
          <p:cNvPr id="9" name="Text 6"/>
          <p:cNvSpPr/>
          <p:nvPr/>
        </p:nvSpPr>
        <p:spPr>
          <a:xfrm>
            <a:off x="3407093" y="4240768"/>
            <a:ext cx="2329815" cy="362903"/>
          </a:xfrm>
          <a:prstGeom prst="rect">
            <a:avLst/>
          </a:prstGeom>
          <a:noFill/>
          <a:ln/>
        </p:spPr>
        <p:txBody>
          <a:bodyPr wrap="none" lIns="0" tIns="0" rIns="0" bIns="0" rtlCol="0" anchor="t"/>
          <a:lstStyle/>
          <a:p>
            <a:pPr algn="ctr" indent="0" marL="0">
              <a:lnSpc>
                <a:spcPts val="2850"/>
              </a:lnSpc>
              <a:buNone/>
            </a:pPr>
            <a:r>
              <a:rPr lang="en-US" sz="1750" dirty="0">
                <a:solidFill>
                  <a:srgbClr val="CFCBBF"/>
                </a:solidFill>
                <a:latin typeface="Raleway" pitchFamily="34" charset="0"/>
                <a:ea typeface="Raleway" pitchFamily="34" charset="-122"/>
                <a:cs typeface="Raleway" pitchFamily="34" charset="-120"/>
              </a:rPr>
              <a:t>Performance metrics</a:t>
            </a:r>
            <a:endParaRPr lang="en-US" sz="1750" dirty="0"/>
          </a:p>
        </p:txBody>
      </p:sp>
      <p:sp>
        <p:nvSpPr>
          <p:cNvPr id="10" name="Text 7"/>
          <p:cNvSpPr/>
          <p:nvPr/>
        </p:nvSpPr>
        <p:spPr>
          <a:xfrm>
            <a:off x="6020395" y="2718554"/>
            <a:ext cx="2329815" cy="748427"/>
          </a:xfrm>
          <a:prstGeom prst="rect">
            <a:avLst/>
          </a:prstGeom>
          <a:noFill/>
          <a:ln/>
        </p:spPr>
        <p:txBody>
          <a:bodyPr wrap="none" lIns="0" tIns="0" rIns="0" bIns="0" rtlCol="0" anchor="t"/>
          <a:lstStyle/>
          <a:p>
            <a:pPr algn="ctr" indent="0" marL="0">
              <a:lnSpc>
                <a:spcPts val="5850"/>
              </a:lnSpc>
              <a:buNone/>
            </a:pPr>
            <a:r>
              <a:rPr lang="en-US" sz="5850" dirty="0">
                <a:solidFill>
                  <a:srgbClr val="CFCBBF"/>
                </a:solidFill>
                <a:latin typeface="Prata" pitchFamily="34" charset="0"/>
                <a:ea typeface="Prata" pitchFamily="34" charset="-122"/>
                <a:cs typeface="Prata" pitchFamily="34" charset="-120"/>
              </a:rPr>
              <a:t>5</a:t>
            </a:r>
            <a:endParaRPr lang="en-US" sz="5850" dirty="0"/>
          </a:p>
        </p:txBody>
      </p:sp>
      <p:sp>
        <p:nvSpPr>
          <p:cNvPr id="11" name="Text 8"/>
          <p:cNvSpPr/>
          <p:nvPr/>
        </p:nvSpPr>
        <p:spPr>
          <a:xfrm>
            <a:off x="6020395" y="3750350"/>
            <a:ext cx="2329815" cy="354330"/>
          </a:xfrm>
          <a:prstGeom prst="rect">
            <a:avLst/>
          </a:prstGeom>
          <a:noFill/>
          <a:ln/>
        </p:spPr>
        <p:txBody>
          <a:bodyPr wrap="none" lIns="0" tIns="0" rIns="0" bIns="0" rtlCol="0" anchor="t"/>
          <a:lstStyle/>
          <a:p>
            <a:pPr algn="ctr" indent="0" marL="0">
              <a:lnSpc>
                <a:spcPts val="2750"/>
              </a:lnSpc>
              <a:buNone/>
            </a:pPr>
            <a:r>
              <a:rPr lang="en-US" sz="2200" dirty="0">
                <a:solidFill>
                  <a:srgbClr val="CFCBBF"/>
                </a:solidFill>
                <a:latin typeface="Prata" pitchFamily="34" charset="0"/>
                <a:ea typeface="Prata" pitchFamily="34" charset="-122"/>
                <a:cs typeface="Prata" pitchFamily="34" charset="-120"/>
              </a:rPr>
              <a:t>League Types</a:t>
            </a:r>
            <a:endParaRPr lang="en-US" sz="2200" dirty="0"/>
          </a:p>
        </p:txBody>
      </p:sp>
      <p:sp>
        <p:nvSpPr>
          <p:cNvPr id="12" name="Text 9"/>
          <p:cNvSpPr/>
          <p:nvPr/>
        </p:nvSpPr>
        <p:spPr>
          <a:xfrm>
            <a:off x="6020395" y="4240768"/>
            <a:ext cx="2329815" cy="725805"/>
          </a:xfrm>
          <a:prstGeom prst="rect">
            <a:avLst/>
          </a:prstGeom>
          <a:noFill/>
          <a:ln/>
        </p:spPr>
        <p:txBody>
          <a:bodyPr wrap="square" lIns="0" tIns="0" rIns="0" bIns="0" rtlCol="0" anchor="t"/>
          <a:lstStyle/>
          <a:p>
            <a:pPr algn="ctr" indent="0" marL="0">
              <a:lnSpc>
                <a:spcPts val="2850"/>
              </a:lnSpc>
              <a:buNone/>
            </a:pPr>
            <a:r>
              <a:rPr lang="en-US" sz="1750" dirty="0">
                <a:solidFill>
                  <a:srgbClr val="CFCBBF"/>
                </a:solidFill>
                <a:latin typeface="Raleway" pitchFamily="34" charset="0"/>
                <a:ea typeface="Raleway" pitchFamily="34" charset="-122"/>
                <a:cs typeface="Raleway" pitchFamily="34" charset="-120"/>
              </a:rPr>
              <a:t>Domestic and international</a:t>
            </a:r>
            <a:endParaRPr lang="en-US" sz="1750" dirty="0"/>
          </a:p>
        </p:txBody>
      </p:sp>
      <p:sp>
        <p:nvSpPr>
          <p:cNvPr id="13" name="Text 10"/>
          <p:cNvSpPr/>
          <p:nvPr/>
        </p:nvSpPr>
        <p:spPr>
          <a:xfrm>
            <a:off x="793790" y="5221724"/>
            <a:ext cx="7556421" cy="1451610"/>
          </a:xfrm>
          <a:prstGeom prst="rect">
            <a:avLst/>
          </a:prstGeom>
          <a:noFill/>
          <a:ln/>
        </p:spPr>
        <p:txBody>
          <a:bodyPr wrap="square" lIns="0" tIns="0" rIns="0" bIns="0" rtlCol="0" anchor="t"/>
          <a:lstStyle/>
          <a:p>
            <a:pPr algn="l" indent="0" marL="0">
              <a:lnSpc>
                <a:spcPts val="2850"/>
              </a:lnSpc>
              <a:buNone/>
            </a:pPr>
            <a:r>
              <a:rPr lang="en-US" sz="1750" dirty="0">
                <a:solidFill>
                  <a:srgbClr val="CFCBBF"/>
                </a:solidFill>
                <a:latin typeface="Raleway" pitchFamily="34" charset="0"/>
                <a:ea typeface="Raleway" pitchFamily="34" charset="-122"/>
                <a:cs typeface="Raleway" pitchFamily="34" charset="-120"/>
              </a:rPr>
              <a:t>The dataset includes player demographics, team affiliations, league information, and comprehensive performance statistics. Data spans both categorical (team, league, position) and numerical (goals, assists, matches played, minutes) variables.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063591"/>
            <a:ext cx="7009567" cy="708779"/>
          </a:xfrm>
          <a:prstGeom prst="rect">
            <a:avLst/>
          </a:prstGeom>
          <a:noFill/>
          <a:ln/>
        </p:spPr>
        <p:txBody>
          <a:bodyPr wrap="none" lIns="0" tIns="0" rIns="0" bIns="0" rtlCol="0" anchor="t"/>
          <a:lstStyle/>
          <a:p>
            <a:pPr algn="l" indent="0" marL="0">
              <a:lnSpc>
                <a:spcPts val="5550"/>
              </a:lnSpc>
              <a:buNone/>
            </a:pPr>
            <a:r>
              <a:rPr lang="en-US" sz="4450" dirty="0">
                <a:solidFill>
                  <a:srgbClr val="F2E782"/>
                </a:solidFill>
                <a:latin typeface="Prata" pitchFamily="34" charset="0"/>
                <a:ea typeface="Prata" pitchFamily="34" charset="-122"/>
                <a:cs typeface="Prata" pitchFamily="34" charset="-120"/>
              </a:rPr>
              <a:t>Data Preparation Process</a:t>
            </a:r>
            <a:endParaRPr lang="en-US" sz="4450" dirty="0"/>
          </a:p>
        </p:txBody>
      </p:sp>
      <p:pic>
        <p:nvPicPr>
          <p:cNvPr id="3" name="Image 0" descr="preencoded.png">    </p:cNvPr>
          <p:cNvPicPr>
            <a:picLocks noChangeAspect="1"/>
          </p:cNvPicPr>
          <p:nvPr/>
        </p:nvPicPr>
        <p:blipFill>
          <a:blip r:embed="rId1"/>
          <a:stretch>
            <a:fillRect/>
          </a:stretch>
        </p:blipFill>
        <p:spPr>
          <a:xfrm>
            <a:off x="793790" y="3225998"/>
            <a:ext cx="4347567" cy="907256"/>
          </a:xfrm>
          <a:prstGeom prst="rect">
            <a:avLst/>
          </a:prstGeom>
        </p:spPr>
      </p:pic>
      <p:sp>
        <p:nvSpPr>
          <p:cNvPr id="4" name="Text 1"/>
          <p:cNvSpPr/>
          <p:nvPr/>
        </p:nvSpPr>
        <p:spPr>
          <a:xfrm>
            <a:off x="1020604" y="436006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CBBF"/>
                </a:solidFill>
                <a:latin typeface="Prata" pitchFamily="34" charset="0"/>
                <a:ea typeface="Prata" pitchFamily="34" charset="-122"/>
                <a:cs typeface="Prata" pitchFamily="34" charset="-120"/>
              </a:rPr>
              <a:t>Data Quality Check</a:t>
            </a:r>
            <a:endParaRPr lang="en-US" sz="2200" dirty="0"/>
          </a:p>
        </p:txBody>
      </p:sp>
      <p:sp>
        <p:nvSpPr>
          <p:cNvPr id="5" name="Text 2"/>
          <p:cNvSpPr/>
          <p:nvPr/>
        </p:nvSpPr>
        <p:spPr>
          <a:xfrm>
            <a:off x="1020604" y="4850487"/>
            <a:ext cx="3893939" cy="1088708"/>
          </a:xfrm>
          <a:prstGeom prst="rect">
            <a:avLst/>
          </a:prstGeom>
          <a:noFill/>
          <a:ln/>
        </p:spPr>
        <p:txBody>
          <a:bodyPr wrap="square" lIns="0" tIns="0" rIns="0" bIns="0" rtlCol="0" anchor="t"/>
          <a:lstStyle/>
          <a:p>
            <a:pPr algn="l" indent="0" marL="0">
              <a:lnSpc>
                <a:spcPts val="2850"/>
              </a:lnSpc>
              <a:buNone/>
            </a:pPr>
            <a:r>
              <a:rPr lang="en-US" sz="1750" dirty="0">
                <a:solidFill>
                  <a:srgbClr val="CFCBBF"/>
                </a:solidFill>
                <a:latin typeface="Raleway" pitchFamily="34" charset="0"/>
                <a:ea typeface="Raleway" pitchFamily="34" charset="-122"/>
                <a:cs typeface="Raleway" pitchFamily="34" charset="-120"/>
              </a:rPr>
              <a:t>Identified and removed duplicate player entries across multiple sources</a:t>
            </a:r>
            <a:endParaRPr lang="en-US" sz="1750" dirty="0"/>
          </a:p>
        </p:txBody>
      </p:sp>
      <p:pic>
        <p:nvPicPr>
          <p:cNvPr id="6" name="Image 1" descr="preencoded.png">    </p:cNvPr>
          <p:cNvPicPr>
            <a:picLocks noChangeAspect="1"/>
          </p:cNvPicPr>
          <p:nvPr/>
        </p:nvPicPr>
        <p:blipFill>
          <a:blip r:embed="rId2"/>
          <a:stretch>
            <a:fillRect/>
          </a:stretch>
        </p:blipFill>
        <p:spPr>
          <a:xfrm>
            <a:off x="5141357" y="3225998"/>
            <a:ext cx="4347567" cy="907256"/>
          </a:xfrm>
          <a:prstGeom prst="rect">
            <a:avLst/>
          </a:prstGeom>
        </p:spPr>
      </p:pic>
      <p:sp>
        <p:nvSpPr>
          <p:cNvPr id="7" name="Text 3"/>
          <p:cNvSpPr/>
          <p:nvPr/>
        </p:nvSpPr>
        <p:spPr>
          <a:xfrm>
            <a:off x="5368171" y="436006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CBBF"/>
                </a:solidFill>
                <a:latin typeface="Prata" pitchFamily="34" charset="0"/>
                <a:ea typeface="Prata" pitchFamily="34" charset="-122"/>
                <a:cs typeface="Prata" pitchFamily="34" charset="-120"/>
              </a:rPr>
              <a:t>Missing Values</a:t>
            </a:r>
            <a:endParaRPr lang="en-US" sz="2200" dirty="0"/>
          </a:p>
        </p:txBody>
      </p:sp>
      <p:sp>
        <p:nvSpPr>
          <p:cNvPr id="8" name="Text 4"/>
          <p:cNvSpPr/>
          <p:nvPr/>
        </p:nvSpPr>
        <p:spPr>
          <a:xfrm>
            <a:off x="5368171" y="4850487"/>
            <a:ext cx="3893939" cy="1088708"/>
          </a:xfrm>
          <a:prstGeom prst="rect">
            <a:avLst/>
          </a:prstGeom>
          <a:noFill/>
          <a:ln/>
        </p:spPr>
        <p:txBody>
          <a:bodyPr wrap="square" lIns="0" tIns="0" rIns="0" bIns="0" rtlCol="0" anchor="t"/>
          <a:lstStyle/>
          <a:p>
            <a:pPr algn="l" indent="0" marL="0">
              <a:lnSpc>
                <a:spcPts val="2850"/>
              </a:lnSpc>
              <a:buNone/>
            </a:pPr>
            <a:r>
              <a:rPr lang="en-US" sz="1750" dirty="0">
                <a:solidFill>
                  <a:srgbClr val="CFCBBF"/>
                </a:solidFill>
                <a:latin typeface="Raleway" pitchFamily="34" charset="0"/>
                <a:ea typeface="Raleway" pitchFamily="34" charset="-122"/>
                <a:cs typeface="Raleway" pitchFamily="34" charset="-120"/>
              </a:rPr>
              <a:t>Applied mean imputation for numerical fields and mode for categorical data</a:t>
            </a:r>
            <a:endParaRPr lang="en-US" sz="1750" dirty="0"/>
          </a:p>
        </p:txBody>
      </p:sp>
      <p:pic>
        <p:nvPicPr>
          <p:cNvPr id="9" name="Image 2" descr="preencoded.png">    </p:cNvPr>
          <p:cNvPicPr>
            <a:picLocks noChangeAspect="1"/>
          </p:cNvPicPr>
          <p:nvPr/>
        </p:nvPicPr>
        <p:blipFill>
          <a:blip r:embed="rId3"/>
          <a:stretch>
            <a:fillRect/>
          </a:stretch>
        </p:blipFill>
        <p:spPr>
          <a:xfrm>
            <a:off x="9488924" y="3225998"/>
            <a:ext cx="4347567" cy="907256"/>
          </a:xfrm>
          <a:prstGeom prst="rect">
            <a:avLst/>
          </a:prstGeom>
        </p:spPr>
      </p:pic>
      <p:sp>
        <p:nvSpPr>
          <p:cNvPr id="10" name="Text 5"/>
          <p:cNvSpPr/>
          <p:nvPr/>
        </p:nvSpPr>
        <p:spPr>
          <a:xfrm>
            <a:off x="9715738" y="436006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CFCBBF"/>
                </a:solidFill>
                <a:latin typeface="Prata" pitchFamily="34" charset="0"/>
                <a:ea typeface="Prata" pitchFamily="34" charset="-122"/>
                <a:cs typeface="Prata" pitchFamily="34" charset="-120"/>
              </a:rPr>
              <a:t>Derived Metrics</a:t>
            </a:r>
            <a:endParaRPr lang="en-US" sz="2200" dirty="0"/>
          </a:p>
        </p:txBody>
      </p:sp>
      <p:sp>
        <p:nvSpPr>
          <p:cNvPr id="11" name="Text 6"/>
          <p:cNvSpPr/>
          <p:nvPr/>
        </p:nvSpPr>
        <p:spPr>
          <a:xfrm>
            <a:off x="9715738" y="4850487"/>
            <a:ext cx="3893939" cy="725805"/>
          </a:xfrm>
          <a:prstGeom prst="rect">
            <a:avLst/>
          </a:prstGeom>
          <a:noFill/>
          <a:ln/>
        </p:spPr>
        <p:txBody>
          <a:bodyPr wrap="square" lIns="0" tIns="0" rIns="0" bIns="0" rtlCol="0" anchor="t"/>
          <a:lstStyle/>
          <a:p>
            <a:pPr algn="l" indent="0" marL="0">
              <a:lnSpc>
                <a:spcPts val="2850"/>
              </a:lnSpc>
              <a:buNone/>
            </a:pPr>
            <a:r>
              <a:rPr lang="en-US" sz="1750" dirty="0">
                <a:solidFill>
                  <a:srgbClr val="CFCBBF"/>
                </a:solidFill>
                <a:latin typeface="Raleway" pitchFamily="34" charset="0"/>
                <a:ea typeface="Raleway" pitchFamily="34" charset="-122"/>
                <a:cs typeface="Raleway" pitchFamily="34" charset="-120"/>
              </a:rPr>
              <a:t>Created Goals per Match ratio and shooting accuracy percentage</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927735"/>
            <a:ext cx="5500211" cy="602456"/>
          </a:xfrm>
          <a:prstGeom prst="rect">
            <a:avLst/>
          </a:prstGeom>
          <a:noFill/>
          <a:ln/>
        </p:spPr>
        <p:txBody>
          <a:bodyPr wrap="none" lIns="0" tIns="0" rIns="0" bIns="0" rtlCol="0" anchor="t"/>
          <a:lstStyle/>
          <a:p>
            <a:pPr algn="l" indent="0" marL="0">
              <a:lnSpc>
                <a:spcPts val="4700"/>
              </a:lnSpc>
              <a:buNone/>
            </a:pPr>
            <a:r>
              <a:rPr lang="en-US" sz="3750" dirty="0">
                <a:solidFill>
                  <a:srgbClr val="F2E782"/>
                </a:solidFill>
                <a:latin typeface="Prata" pitchFamily="34" charset="0"/>
                <a:ea typeface="Prata" pitchFamily="34" charset="-122"/>
                <a:cs typeface="Prata" pitchFamily="34" charset="-120"/>
              </a:rPr>
              <a:t>Key Analysis Performed</a:t>
            </a:r>
            <a:endParaRPr lang="en-US" sz="3750" dirty="0"/>
          </a:p>
        </p:txBody>
      </p:sp>
      <p:sp>
        <p:nvSpPr>
          <p:cNvPr id="4" name="Shape 1"/>
          <p:cNvSpPr/>
          <p:nvPr/>
        </p:nvSpPr>
        <p:spPr>
          <a:xfrm>
            <a:off x="793790" y="1775936"/>
            <a:ext cx="7556421" cy="1115973"/>
          </a:xfrm>
          <a:prstGeom prst="roundRect">
            <a:avLst>
              <a:gd name="adj" fmla="val 9832"/>
            </a:avLst>
          </a:prstGeom>
          <a:solidFill>
            <a:srgbClr val="1B1C1D"/>
          </a:solidFill>
          <a:ln w="22860">
            <a:solidFill>
              <a:srgbClr val="535455"/>
            </a:solidFill>
            <a:prstDash val="solid"/>
          </a:ln>
        </p:spPr>
      </p:sp>
      <p:pic>
        <p:nvPicPr>
          <p:cNvPr id="5" name="Image 1" descr="preencoded.png">    </p:cNvPr>
          <p:cNvPicPr>
            <a:picLocks noChangeAspect="1"/>
          </p:cNvPicPr>
          <p:nvPr/>
        </p:nvPicPr>
        <p:blipFill>
          <a:blip r:embed="rId2"/>
          <a:stretch>
            <a:fillRect/>
          </a:stretch>
        </p:blipFill>
        <p:spPr>
          <a:xfrm>
            <a:off x="770930" y="1775936"/>
            <a:ext cx="91440" cy="1115973"/>
          </a:xfrm>
          <a:prstGeom prst="rect">
            <a:avLst/>
          </a:prstGeom>
        </p:spPr>
      </p:pic>
      <p:sp>
        <p:nvSpPr>
          <p:cNvPr id="6" name="Text 2"/>
          <p:cNvSpPr/>
          <p:nvPr/>
        </p:nvSpPr>
        <p:spPr>
          <a:xfrm>
            <a:off x="1077992" y="1991558"/>
            <a:ext cx="2409944" cy="301228"/>
          </a:xfrm>
          <a:prstGeom prst="rect">
            <a:avLst/>
          </a:prstGeom>
          <a:noFill/>
          <a:ln/>
        </p:spPr>
        <p:txBody>
          <a:bodyPr wrap="none" lIns="0" tIns="0" rIns="0" bIns="0" rtlCol="0" anchor="t"/>
          <a:lstStyle/>
          <a:p>
            <a:pPr algn="l" indent="0" marL="0">
              <a:lnSpc>
                <a:spcPts val="2350"/>
              </a:lnSpc>
              <a:buNone/>
            </a:pPr>
            <a:r>
              <a:rPr lang="en-US" sz="1850" dirty="0">
                <a:solidFill>
                  <a:srgbClr val="CFCBBF"/>
                </a:solidFill>
                <a:latin typeface="Prata" pitchFamily="34" charset="0"/>
                <a:ea typeface="Prata" pitchFamily="34" charset="-122"/>
                <a:cs typeface="Prata" pitchFamily="34" charset="-120"/>
              </a:rPr>
              <a:t>Top Performers</a:t>
            </a:r>
            <a:endParaRPr lang="en-US" sz="1850" dirty="0"/>
          </a:p>
        </p:txBody>
      </p:sp>
      <p:sp>
        <p:nvSpPr>
          <p:cNvPr id="7" name="Text 3"/>
          <p:cNvSpPr/>
          <p:nvPr/>
        </p:nvSpPr>
        <p:spPr>
          <a:xfrm>
            <a:off x="1077992" y="2391013"/>
            <a:ext cx="7056596" cy="285274"/>
          </a:xfrm>
          <a:prstGeom prst="rect">
            <a:avLst/>
          </a:prstGeom>
          <a:noFill/>
          <a:ln/>
        </p:spPr>
        <p:txBody>
          <a:bodyPr wrap="none" lIns="0" tIns="0" rIns="0" bIns="0" rtlCol="0" anchor="t"/>
          <a:lstStyle/>
          <a:p>
            <a:pPr algn="l" indent="0" marL="0">
              <a:lnSpc>
                <a:spcPts val="2200"/>
              </a:lnSpc>
              <a:buNone/>
            </a:pPr>
            <a:r>
              <a:rPr lang="en-US" sz="1500" dirty="0">
                <a:solidFill>
                  <a:srgbClr val="CFCBBF"/>
                </a:solidFill>
                <a:latin typeface="Raleway" pitchFamily="34" charset="0"/>
                <a:ea typeface="Raleway" pitchFamily="34" charset="-122"/>
                <a:cs typeface="Raleway" pitchFamily="34" charset="-120"/>
              </a:rPr>
              <a:t>Ranked players by total goals and efficiency metrics to identify elite performers</a:t>
            </a:r>
            <a:endParaRPr lang="en-US" sz="1500" dirty="0"/>
          </a:p>
        </p:txBody>
      </p:sp>
      <p:sp>
        <p:nvSpPr>
          <p:cNvPr id="8" name="Shape 4"/>
          <p:cNvSpPr/>
          <p:nvPr/>
        </p:nvSpPr>
        <p:spPr>
          <a:xfrm>
            <a:off x="793790" y="3055739"/>
            <a:ext cx="7556421" cy="1115973"/>
          </a:xfrm>
          <a:prstGeom prst="roundRect">
            <a:avLst>
              <a:gd name="adj" fmla="val 9832"/>
            </a:avLst>
          </a:prstGeom>
          <a:solidFill>
            <a:srgbClr val="1B1C1D"/>
          </a:solidFill>
          <a:ln w="22860">
            <a:solidFill>
              <a:srgbClr val="535455"/>
            </a:solidFill>
            <a:prstDash val="solid"/>
          </a:ln>
        </p:spPr>
      </p:sp>
      <p:pic>
        <p:nvPicPr>
          <p:cNvPr id="9" name="Image 2" descr="preencoded.png">    </p:cNvPr>
          <p:cNvPicPr>
            <a:picLocks noChangeAspect="1"/>
          </p:cNvPicPr>
          <p:nvPr/>
        </p:nvPicPr>
        <p:blipFill>
          <a:blip r:embed="rId3"/>
          <a:stretch>
            <a:fillRect/>
          </a:stretch>
        </p:blipFill>
        <p:spPr>
          <a:xfrm>
            <a:off x="770930" y="3055739"/>
            <a:ext cx="91440" cy="1115973"/>
          </a:xfrm>
          <a:prstGeom prst="rect">
            <a:avLst/>
          </a:prstGeom>
        </p:spPr>
      </p:pic>
      <p:sp>
        <p:nvSpPr>
          <p:cNvPr id="10" name="Text 5"/>
          <p:cNvSpPr/>
          <p:nvPr/>
        </p:nvSpPr>
        <p:spPr>
          <a:xfrm>
            <a:off x="1077992" y="3271361"/>
            <a:ext cx="2600682" cy="301228"/>
          </a:xfrm>
          <a:prstGeom prst="rect">
            <a:avLst/>
          </a:prstGeom>
          <a:noFill/>
          <a:ln/>
        </p:spPr>
        <p:txBody>
          <a:bodyPr wrap="none" lIns="0" tIns="0" rIns="0" bIns="0" rtlCol="0" anchor="t"/>
          <a:lstStyle/>
          <a:p>
            <a:pPr algn="l" indent="0" marL="0">
              <a:lnSpc>
                <a:spcPts val="2350"/>
              </a:lnSpc>
              <a:buNone/>
            </a:pPr>
            <a:r>
              <a:rPr lang="en-US" sz="1850" dirty="0">
                <a:solidFill>
                  <a:srgbClr val="CFCBBF"/>
                </a:solidFill>
                <a:latin typeface="Prata" pitchFamily="34" charset="0"/>
                <a:ea typeface="Prata" pitchFamily="34" charset="-122"/>
                <a:cs typeface="Prata" pitchFamily="34" charset="-120"/>
              </a:rPr>
              <a:t>Statistical Distribution</a:t>
            </a:r>
            <a:endParaRPr lang="en-US" sz="1850" dirty="0"/>
          </a:p>
        </p:txBody>
      </p:sp>
      <p:sp>
        <p:nvSpPr>
          <p:cNvPr id="11" name="Text 6"/>
          <p:cNvSpPr/>
          <p:nvPr/>
        </p:nvSpPr>
        <p:spPr>
          <a:xfrm>
            <a:off x="1077992" y="3670816"/>
            <a:ext cx="7056596" cy="285274"/>
          </a:xfrm>
          <a:prstGeom prst="rect">
            <a:avLst/>
          </a:prstGeom>
          <a:noFill/>
          <a:ln/>
        </p:spPr>
        <p:txBody>
          <a:bodyPr wrap="none" lIns="0" tIns="0" rIns="0" bIns="0" rtlCol="0" anchor="t"/>
          <a:lstStyle/>
          <a:p>
            <a:pPr algn="l" indent="0" marL="0">
              <a:lnSpc>
                <a:spcPts val="2200"/>
              </a:lnSpc>
              <a:buNone/>
            </a:pPr>
            <a:r>
              <a:rPr lang="en-US" sz="1500" dirty="0">
                <a:solidFill>
                  <a:srgbClr val="CFCBBF"/>
                </a:solidFill>
                <a:latin typeface="Raleway" pitchFamily="34" charset="0"/>
                <a:ea typeface="Raleway" pitchFamily="34" charset="-122"/>
                <a:cs typeface="Raleway" pitchFamily="34" charset="-120"/>
              </a:rPr>
              <a:t>Analyzed goal distribution patterns and identified outliers in scoring behavior</a:t>
            </a:r>
            <a:endParaRPr lang="en-US" sz="1500" dirty="0"/>
          </a:p>
        </p:txBody>
      </p:sp>
      <p:sp>
        <p:nvSpPr>
          <p:cNvPr id="12" name="Shape 7"/>
          <p:cNvSpPr/>
          <p:nvPr/>
        </p:nvSpPr>
        <p:spPr>
          <a:xfrm>
            <a:off x="793790" y="4335542"/>
            <a:ext cx="7556421" cy="1401247"/>
          </a:xfrm>
          <a:prstGeom prst="roundRect">
            <a:avLst>
              <a:gd name="adj" fmla="val 7831"/>
            </a:avLst>
          </a:prstGeom>
          <a:solidFill>
            <a:srgbClr val="1B1C1D"/>
          </a:solidFill>
          <a:ln w="22860">
            <a:solidFill>
              <a:srgbClr val="535455"/>
            </a:solidFill>
            <a:prstDash val="solid"/>
          </a:ln>
        </p:spPr>
      </p:sp>
      <p:pic>
        <p:nvPicPr>
          <p:cNvPr id="13" name="Image 3" descr="preencoded.png">    </p:cNvPr>
          <p:cNvPicPr>
            <a:picLocks noChangeAspect="1"/>
          </p:cNvPicPr>
          <p:nvPr/>
        </p:nvPicPr>
        <p:blipFill>
          <a:blip r:embed="rId4"/>
          <a:stretch>
            <a:fillRect/>
          </a:stretch>
        </p:blipFill>
        <p:spPr>
          <a:xfrm>
            <a:off x="770930" y="4335542"/>
            <a:ext cx="91440" cy="1401247"/>
          </a:xfrm>
          <a:prstGeom prst="rect">
            <a:avLst/>
          </a:prstGeom>
        </p:spPr>
      </p:pic>
      <p:sp>
        <p:nvSpPr>
          <p:cNvPr id="14" name="Text 8"/>
          <p:cNvSpPr/>
          <p:nvPr/>
        </p:nvSpPr>
        <p:spPr>
          <a:xfrm>
            <a:off x="1077992" y="4551164"/>
            <a:ext cx="2409944" cy="301228"/>
          </a:xfrm>
          <a:prstGeom prst="rect">
            <a:avLst/>
          </a:prstGeom>
          <a:noFill/>
          <a:ln/>
        </p:spPr>
        <p:txBody>
          <a:bodyPr wrap="none" lIns="0" tIns="0" rIns="0" bIns="0" rtlCol="0" anchor="t"/>
          <a:lstStyle/>
          <a:p>
            <a:pPr algn="l" indent="0" marL="0">
              <a:lnSpc>
                <a:spcPts val="2350"/>
              </a:lnSpc>
              <a:buNone/>
            </a:pPr>
            <a:r>
              <a:rPr lang="en-US" sz="1850" dirty="0">
                <a:solidFill>
                  <a:srgbClr val="CFCBBF"/>
                </a:solidFill>
                <a:latin typeface="Prata" pitchFamily="34" charset="0"/>
                <a:ea typeface="Prata" pitchFamily="34" charset="-122"/>
                <a:cs typeface="Prata" pitchFamily="34" charset="-120"/>
              </a:rPr>
              <a:t>Correlation Analysis</a:t>
            </a:r>
            <a:endParaRPr lang="en-US" sz="1850" dirty="0"/>
          </a:p>
        </p:txBody>
      </p:sp>
      <p:sp>
        <p:nvSpPr>
          <p:cNvPr id="15" name="Text 9"/>
          <p:cNvSpPr/>
          <p:nvPr/>
        </p:nvSpPr>
        <p:spPr>
          <a:xfrm>
            <a:off x="1077992" y="4950619"/>
            <a:ext cx="7056596" cy="570548"/>
          </a:xfrm>
          <a:prstGeom prst="rect">
            <a:avLst/>
          </a:prstGeom>
          <a:noFill/>
          <a:ln/>
        </p:spPr>
        <p:txBody>
          <a:bodyPr wrap="square" lIns="0" tIns="0" rIns="0" bIns="0" rtlCol="0" anchor="t"/>
          <a:lstStyle/>
          <a:p>
            <a:pPr algn="l" indent="0" marL="0">
              <a:lnSpc>
                <a:spcPts val="2200"/>
              </a:lnSpc>
              <a:buNone/>
            </a:pPr>
            <a:r>
              <a:rPr lang="en-US" sz="1500" dirty="0">
                <a:solidFill>
                  <a:srgbClr val="CFCBBF"/>
                </a:solidFill>
                <a:latin typeface="Raleway" pitchFamily="34" charset="0"/>
                <a:ea typeface="Raleway" pitchFamily="34" charset="-122"/>
                <a:cs typeface="Raleway" pitchFamily="34" charset="-120"/>
              </a:rPr>
              <a:t>Examined relationship between goals and assists to understand scoring patterns</a:t>
            </a:r>
            <a:endParaRPr lang="en-US" sz="1500" dirty="0"/>
          </a:p>
        </p:txBody>
      </p:sp>
      <p:sp>
        <p:nvSpPr>
          <p:cNvPr id="16" name="Shape 10"/>
          <p:cNvSpPr/>
          <p:nvPr/>
        </p:nvSpPr>
        <p:spPr>
          <a:xfrm>
            <a:off x="793790" y="5900618"/>
            <a:ext cx="7556421" cy="1401247"/>
          </a:xfrm>
          <a:prstGeom prst="roundRect">
            <a:avLst>
              <a:gd name="adj" fmla="val 7831"/>
            </a:avLst>
          </a:prstGeom>
          <a:solidFill>
            <a:srgbClr val="1B1C1D"/>
          </a:solidFill>
          <a:ln w="22860">
            <a:solidFill>
              <a:srgbClr val="535455"/>
            </a:solidFill>
            <a:prstDash val="solid"/>
          </a:ln>
        </p:spPr>
      </p:sp>
      <p:pic>
        <p:nvPicPr>
          <p:cNvPr id="17" name="Image 4" descr="preencoded.png">    </p:cNvPr>
          <p:cNvPicPr>
            <a:picLocks noChangeAspect="1"/>
          </p:cNvPicPr>
          <p:nvPr/>
        </p:nvPicPr>
        <p:blipFill>
          <a:blip r:embed="rId5"/>
          <a:stretch>
            <a:fillRect/>
          </a:stretch>
        </p:blipFill>
        <p:spPr>
          <a:xfrm>
            <a:off x="770930" y="5900618"/>
            <a:ext cx="91440" cy="1401247"/>
          </a:xfrm>
          <a:prstGeom prst="rect">
            <a:avLst/>
          </a:prstGeom>
        </p:spPr>
      </p:pic>
      <p:sp>
        <p:nvSpPr>
          <p:cNvPr id="18" name="Text 11"/>
          <p:cNvSpPr/>
          <p:nvPr/>
        </p:nvSpPr>
        <p:spPr>
          <a:xfrm>
            <a:off x="1077992" y="6116241"/>
            <a:ext cx="2409944" cy="301228"/>
          </a:xfrm>
          <a:prstGeom prst="rect">
            <a:avLst/>
          </a:prstGeom>
          <a:noFill/>
          <a:ln/>
        </p:spPr>
        <p:txBody>
          <a:bodyPr wrap="none" lIns="0" tIns="0" rIns="0" bIns="0" rtlCol="0" anchor="t"/>
          <a:lstStyle/>
          <a:p>
            <a:pPr algn="l" indent="0" marL="0">
              <a:lnSpc>
                <a:spcPts val="2350"/>
              </a:lnSpc>
              <a:buNone/>
            </a:pPr>
            <a:r>
              <a:rPr lang="en-US" sz="1850" dirty="0">
                <a:solidFill>
                  <a:srgbClr val="CFCBBF"/>
                </a:solidFill>
                <a:latin typeface="Prata" pitchFamily="34" charset="0"/>
                <a:ea typeface="Prata" pitchFamily="34" charset="-122"/>
                <a:cs typeface="Prata" pitchFamily="34" charset="-120"/>
              </a:rPr>
              <a:t>League Comparison</a:t>
            </a:r>
            <a:endParaRPr lang="en-US" sz="1850" dirty="0"/>
          </a:p>
        </p:txBody>
      </p:sp>
      <p:sp>
        <p:nvSpPr>
          <p:cNvPr id="19" name="Text 12"/>
          <p:cNvSpPr/>
          <p:nvPr/>
        </p:nvSpPr>
        <p:spPr>
          <a:xfrm>
            <a:off x="1077992" y="6515695"/>
            <a:ext cx="7056596" cy="570548"/>
          </a:xfrm>
          <a:prstGeom prst="rect">
            <a:avLst/>
          </a:prstGeom>
          <a:noFill/>
          <a:ln/>
        </p:spPr>
        <p:txBody>
          <a:bodyPr wrap="square" lIns="0" tIns="0" rIns="0" bIns="0" rtlCol="0" anchor="t"/>
          <a:lstStyle/>
          <a:p>
            <a:pPr algn="l" indent="0" marL="0">
              <a:lnSpc>
                <a:spcPts val="2200"/>
              </a:lnSpc>
              <a:buNone/>
            </a:pPr>
            <a:r>
              <a:rPr lang="en-US" sz="1500" dirty="0">
                <a:solidFill>
                  <a:srgbClr val="CFCBBF"/>
                </a:solidFill>
                <a:latin typeface="Raleway" pitchFamily="34" charset="0"/>
                <a:ea typeface="Raleway" pitchFamily="34" charset="-122"/>
                <a:cs typeface="Raleway" pitchFamily="34" charset="-120"/>
              </a:rPr>
              <a:t>Compared performance across different leagues to identify competitive advantages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0332" y="589598"/>
            <a:ext cx="6296858" cy="669965"/>
          </a:xfrm>
          <a:prstGeom prst="rect">
            <a:avLst/>
          </a:prstGeom>
          <a:noFill/>
          <a:ln/>
        </p:spPr>
        <p:txBody>
          <a:bodyPr wrap="none" lIns="0" tIns="0" rIns="0" bIns="0" rtlCol="0" anchor="t"/>
          <a:lstStyle/>
          <a:p>
            <a:pPr algn="l" indent="0" marL="0">
              <a:lnSpc>
                <a:spcPts val="5250"/>
              </a:lnSpc>
              <a:buNone/>
            </a:pPr>
            <a:r>
              <a:rPr lang="en-US" sz="4200" dirty="0">
                <a:solidFill>
                  <a:srgbClr val="F2E782"/>
                </a:solidFill>
                <a:latin typeface="Prata" pitchFamily="34" charset="0"/>
                <a:ea typeface="Prata" pitchFamily="34" charset="-122"/>
                <a:cs typeface="Prata" pitchFamily="34" charset="-120"/>
              </a:rPr>
              <a:t>Top Performers Analysis</a:t>
            </a:r>
            <a:endParaRPr lang="en-US" sz="4200" dirty="0"/>
          </a:p>
        </p:txBody>
      </p:sp>
      <p:sp>
        <p:nvSpPr>
          <p:cNvPr id="3" name="Text 1"/>
          <p:cNvSpPr/>
          <p:nvPr/>
        </p:nvSpPr>
        <p:spPr>
          <a:xfrm>
            <a:off x="750332" y="1664851"/>
            <a:ext cx="13129736" cy="1000839"/>
          </a:xfrm>
          <a:prstGeom prst="rect">
            <a:avLst/>
          </a:prstGeom>
          <a:noFill/>
          <a:ln/>
        </p:spPr>
        <p:txBody>
          <a:bodyPr wrap="square" lIns="0" tIns="0" rIns="0" bIns="0" rtlCol="0" anchor="t"/>
          <a:lstStyle/>
          <a:p>
            <a:pPr algn="l" indent="0" marL="0">
              <a:lnSpc>
                <a:spcPts val="2600"/>
              </a:lnSpc>
              <a:buNone/>
            </a:pPr>
            <a:r>
              <a:rPr lang="en-US" sz="1650" dirty="0">
                <a:solidFill>
                  <a:srgbClr val="CFCBBF"/>
                </a:solidFill>
                <a:latin typeface="Raleway" pitchFamily="34" charset="0"/>
                <a:ea typeface="Raleway" pitchFamily="34" charset="-122"/>
                <a:cs typeface="Raleway" pitchFamily="34" charset="-120"/>
              </a:rPr>
              <a:t>The Top 10 Goal Scorers chart reveals the elite performers in our dataset. Julian Alvarez leads with over 600 goals, followed by Erling Haaland and Harry Kane. This visualization directly supports our 'Top Performers' analysis, showing the concentration of scoring talent among elite strikers.</a:t>
            </a:r>
            <a:endParaRPr lang="en-US" sz="1650" dirty="0"/>
          </a:p>
        </p:txBody>
      </p:sp>
      <p:pic>
        <p:nvPicPr>
          <p:cNvPr id="4" name="Image 0" descr="preencoded.png">    </p:cNvPr>
          <p:cNvPicPr>
            <a:picLocks noChangeAspect="1"/>
          </p:cNvPicPr>
          <p:nvPr/>
        </p:nvPicPr>
        <p:blipFill>
          <a:blip r:embed="rId1"/>
          <a:stretch>
            <a:fillRect/>
          </a:stretch>
        </p:blipFill>
        <p:spPr>
          <a:xfrm>
            <a:off x="964763" y="3317200"/>
            <a:ext cx="6420326" cy="3583424"/>
          </a:xfrm>
          <a:prstGeom prst="rect">
            <a:avLst/>
          </a:prstGeom>
        </p:spPr>
      </p:pic>
      <p:sp>
        <p:nvSpPr>
          <p:cNvPr id="5" name="Text 2"/>
          <p:cNvSpPr/>
          <p:nvPr/>
        </p:nvSpPr>
        <p:spPr>
          <a:xfrm>
            <a:off x="750332" y="7128629"/>
            <a:ext cx="6849308" cy="333613"/>
          </a:xfrm>
          <a:prstGeom prst="rect">
            <a:avLst/>
          </a:prstGeom>
          <a:noFill/>
          <a:ln/>
        </p:spPr>
        <p:txBody>
          <a:bodyPr wrap="none" lIns="0" tIns="0" rIns="0" bIns="0" rtlCol="0" anchor="t"/>
          <a:lstStyle/>
          <a:p>
            <a:pPr algn="l" indent="0" marL="0">
              <a:lnSpc>
                <a:spcPts val="2600"/>
              </a:lnSpc>
              <a:buNone/>
            </a:pPr>
            <a:endParaRPr lang="en-US" sz="1650" dirty="0"/>
          </a:p>
        </p:txBody>
      </p:sp>
      <p:pic>
        <p:nvPicPr>
          <p:cNvPr id="6" name="Image 1" descr="preencoded.png">    </p:cNvPr>
          <p:cNvPicPr>
            <a:picLocks noChangeAspect="1"/>
          </p:cNvPicPr>
          <p:nvPr/>
        </p:nvPicPr>
        <p:blipFill>
          <a:blip r:embed="rId2"/>
          <a:stretch>
            <a:fillRect/>
          </a:stretch>
        </p:blipFill>
        <p:spPr>
          <a:xfrm>
            <a:off x="8130421" y="3121700"/>
            <a:ext cx="5757148" cy="429494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053941"/>
            <a:ext cx="9401056" cy="708779"/>
          </a:xfrm>
          <a:prstGeom prst="rect">
            <a:avLst/>
          </a:prstGeom>
          <a:noFill/>
          <a:ln/>
        </p:spPr>
        <p:txBody>
          <a:bodyPr wrap="none" lIns="0" tIns="0" rIns="0" bIns="0" rtlCol="0" anchor="t"/>
          <a:lstStyle/>
          <a:p>
            <a:pPr algn="l" indent="0" marL="0">
              <a:lnSpc>
                <a:spcPts val="5550"/>
              </a:lnSpc>
              <a:buNone/>
            </a:pPr>
            <a:r>
              <a:rPr lang="en-US" sz="4450" dirty="0">
                <a:solidFill>
                  <a:srgbClr val="F2E782"/>
                </a:solidFill>
                <a:latin typeface="Prata" pitchFamily="34" charset="0"/>
                <a:ea typeface="Prata" pitchFamily="34" charset="-122"/>
                <a:cs typeface="Prata" pitchFamily="34" charset="-120"/>
              </a:rPr>
              <a:t>Statistical Distributions &amp; Patterns</a:t>
            </a:r>
            <a:endParaRPr lang="en-US" sz="4450" dirty="0"/>
          </a:p>
        </p:txBody>
      </p:sp>
      <p:pic>
        <p:nvPicPr>
          <p:cNvPr id="3" name="Image 0" descr="preencoded.png">    </p:cNvPr>
          <p:cNvPicPr>
            <a:picLocks noChangeAspect="1"/>
          </p:cNvPicPr>
          <p:nvPr/>
        </p:nvPicPr>
        <p:blipFill>
          <a:blip r:embed="rId1"/>
          <a:stretch>
            <a:fillRect/>
          </a:stretch>
        </p:blipFill>
        <p:spPr>
          <a:xfrm>
            <a:off x="793790" y="2358033"/>
            <a:ext cx="4800600" cy="3581400"/>
          </a:xfrm>
          <a:prstGeom prst="rect">
            <a:avLst/>
          </a:prstGeom>
        </p:spPr>
      </p:pic>
      <p:pic>
        <p:nvPicPr>
          <p:cNvPr id="4" name="Image 1" descr="preencoded.png">    </p:cNvPr>
          <p:cNvPicPr>
            <a:picLocks noChangeAspect="1"/>
          </p:cNvPicPr>
          <p:nvPr/>
        </p:nvPicPr>
        <p:blipFill>
          <a:blip r:embed="rId2"/>
          <a:stretch>
            <a:fillRect/>
          </a:stretch>
        </p:blipFill>
        <p:spPr>
          <a:xfrm>
            <a:off x="7599521" y="2358033"/>
            <a:ext cx="4800600" cy="3581400"/>
          </a:xfrm>
          <a:prstGeom prst="rect">
            <a:avLst/>
          </a:prstGeom>
        </p:spPr>
      </p:pic>
      <p:sp>
        <p:nvSpPr>
          <p:cNvPr id="5" name="Text 1"/>
          <p:cNvSpPr/>
          <p:nvPr/>
        </p:nvSpPr>
        <p:spPr>
          <a:xfrm>
            <a:off x="793790" y="6449735"/>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CFCBBF"/>
                </a:solidFill>
                <a:latin typeface="Raleway" pitchFamily="34" charset="0"/>
                <a:ea typeface="Raleway" pitchFamily="34" charset="-122"/>
                <a:cs typeface="Raleway" pitchFamily="34" charset="-120"/>
              </a:rPr>
              <a:t>These distributions reveal the spread of key performance metrics across our player dataset. Goal distribution shows concentration around mid-range scorers, while pass accuracy follows a near-normal distribution centered around 80%.</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053941"/>
            <a:ext cx="9669780" cy="708779"/>
          </a:xfrm>
          <a:prstGeom prst="rect">
            <a:avLst/>
          </a:prstGeom>
          <a:noFill/>
          <a:ln/>
        </p:spPr>
        <p:txBody>
          <a:bodyPr wrap="none" lIns="0" tIns="0" rIns="0" bIns="0" rtlCol="0" anchor="t"/>
          <a:lstStyle/>
          <a:p>
            <a:pPr algn="l" indent="0" marL="0">
              <a:lnSpc>
                <a:spcPts val="5550"/>
              </a:lnSpc>
              <a:buNone/>
            </a:pPr>
            <a:r>
              <a:rPr lang="en-US" sz="4450" dirty="0">
                <a:solidFill>
                  <a:srgbClr val="F2E782"/>
                </a:solidFill>
                <a:latin typeface="Prata" pitchFamily="34" charset="0"/>
                <a:ea typeface="Prata" pitchFamily="34" charset="-122"/>
                <a:cs typeface="Prata" pitchFamily="34" charset="-120"/>
              </a:rPr>
              <a:t>Correlation &amp; Relationship Analysis</a:t>
            </a:r>
            <a:endParaRPr lang="en-US" sz="4450" dirty="0"/>
          </a:p>
        </p:txBody>
      </p:sp>
      <p:pic>
        <p:nvPicPr>
          <p:cNvPr id="3" name="Image 0" descr="preencoded.png">    </p:cNvPr>
          <p:cNvPicPr>
            <a:picLocks noChangeAspect="1"/>
          </p:cNvPicPr>
          <p:nvPr/>
        </p:nvPicPr>
        <p:blipFill>
          <a:blip r:embed="rId1"/>
          <a:stretch>
            <a:fillRect/>
          </a:stretch>
        </p:blipFill>
        <p:spPr>
          <a:xfrm>
            <a:off x="793790" y="2358033"/>
            <a:ext cx="4800600" cy="3581400"/>
          </a:xfrm>
          <a:prstGeom prst="rect">
            <a:avLst/>
          </a:prstGeom>
        </p:spPr>
      </p:pic>
      <p:pic>
        <p:nvPicPr>
          <p:cNvPr id="4" name="Image 1" descr="preencoded.png">    </p:cNvPr>
          <p:cNvPicPr>
            <a:picLocks noChangeAspect="1"/>
          </p:cNvPicPr>
          <p:nvPr/>
        </p:nvPicPr>
        <p:blipFill>
          <a:blip r:embed="rId2"/>
          <a:stretch>
            <a:fillRect/>
          </a:stretch>
        </p:blipFill>
        <p:spPr>
          <a:xfrm>
            <a:off x="7599521" y="2358033"/>
            <a:ext cx="4800600" cy="3581400"/>
          </a:xfrm>
          <a:prstGeom prst="rect">
            <a:avLst/>
          </a:prstGeom>
        </p:spPr>
      </p:pic>
      <p:sp>
        <p:nvSpPr>
          <p:cNvPr id="5" name="Text 1"/>
          <p:cNvSpPr/>
          <p:nvPr/>
        </p:nvSpPr>
        <p:spPr>
          <a:xfrm>
            <a:off x="793790" y="6449735"/>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CFCBBF"/>
                </a:solidFill>
                <a:latin typeface="Raleway" pitchFamily="34" charset="0"/>
                <a:ea typeface="Raleway" pitchFamily="34" charset="-122"/>
                <a:cs typeface="Raleway" pitchFamily="34" charset="-120"/>
              </a:rPr>
              <a:t>The correlation heatmap identifies key relationships between variables. Strong positive correlations exist between matches played and goals, and between goals and assists—validating our key insights about volume and efficiency.</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053941"/>
            <a:ext cx="11462028" cy="708779"/>
          </a:xfrm>
          <a:prstGeom prst="rect">
            <a:avLst/>
          </a:prstGeom>
          <a:noFill/>
          <a:ln/>
        </p:spPr>
        <p:txBody>
          <a:bodyPr wrap="none" lIns="0" tIns="0" rIns="0" bIns="0" rtlCol="0" anchor="t"/>
          <a:lstStyle/>
          <a:p>
            <a:pPr algn="l" indent="0" marL="0">
              <a:lnSpc>
                <a:spcPts val="5550"/>
              </a:lnSpc>
              <a:buNone/>
            </a:pPr>
            <a:r>
              <a:rPr lang="en-US" sz="4450" dirty="0">
                <a:solidFill>
                  <a:srgbClr val="F2E782"/>
                </a:solidFill>
                <a:latin typeface="Prata" pitchFamily="34" charset="0"/>
                <a:ea typeface="Prata" pitchFamily="34" charset="-122"/>
                <a:cs typeface="Prata" pitchFamily="34" charset="-120"/>
              </a:rPr>
              <a:t>League &amp; Team Performance Comparison</a:t>
            </a:r>
            <a:endParaRPr lang="en-US" sz="4450" dirty="0"/>
          </a:p>
        </p:txBody>
      </p:sp>
      <p:pic>
        <p:nvPicPr>
          <p:cNvPr id="3" name="Image 0" descr="preencoded.png">    </p:cNvPr>
          <p:cNvPicPr>
            <a:picLocks noChangeAspect="1"/>
          </p:cNvPicPr>
          <p:nvPr/>
        </p:nvPicPr>
        <p:blipFill>
          <a:blip r:embed="rId1"/>
          <a:stretch>
            <a:fillRect/>
          </a:stretch>
        </p:blipFill>
        <p:spPr>
          <a:xfrm>
            <a:off x="793790" y="2358033"/>
            <a:ext cx="4800600" cy="3581400"/>
          </a:xfrm>
          <a:prstGeom prst="rect">
            <a:avLst/>
          </a:prstGeom>
        </p:spPr>
      </p:pic>
      <p:pic>
        <p:nvPicPr>
          <p:cNvPr id="4" name="Image 1" descr="preencoded.png">    </p:cNvPr>
          <p:cNvPicPr>
            <a:picLocks noChangeAspect="1"/>
          </p:cNvPicPr>
          <p:nvPr/>
        </p:nvPicPr>
        <p:blipFill>
          <a:blip r:embed="rId2"/>
          <a:stretch>
            <a:fillRect/>
          </a:stretch>
        </p:blipFill>
        <p:spPr>
          <a:xfrm>
            <a:off x="7599521" y="2358033"/>
            <a:ext cx="4800600" cy="3581400"/>
          </a:xfrm>
          <a:prstGeom prst="rect">
            <a:avLst/>
          </a:prstGeom>
        </p:spPr>
      </p:pic>
      <p:sp>
        <p:nvSpPr>
          <p:cNvPr id="5" name="Text 1"/>
          <p:cNvSpPr/>
          <p:nvPr/>
        </p:nvSpPr>
        <p:spPr>
          <a:xfrm>
            <a:off x="793790" y="6449735"/>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CFCBBF"/>
                </a:solidFill>
                <a:latin typeface="Raleway" pitchFamily="34" charset="0"/>
                <a:ea typeface="Raleway" pitchFamily="34" charset="-122"/>
                <a:cs typeface="Raleway" pitchFamily="34" charset="-120"/>
              </a:rPr>
              <a:t>League analysis shows significant variance in average goal-scoring performance, with Argentine Primera and Bundesliga leading. Manchester City dominates in total team goals, reflecting both squad depth and tactical approach to attacking play.</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872490"/>
            <a:ext cx="11964948" cy="708779"/>
          </a:xfrm>
          <a:prstGeom prst="rect">
            <a:avLst/>
          </a:prstGeom>
          <a:noFill/>
          <a:ln/>
        </p:spPr>
        <p:txBody>
          <a:bodyPr wrap="none" lIns="0" tIns="0" rIns="0" bIns="0" rtlCol="0" anchor="t"/>
          <a:lstStyle/>
          <a:p>
            <a:pPr algn="l" indent="0" marL="0">
              <a:lnSpc>
                <a:spcPts val="5550"/>
              </a:lnSpc>
              <a:buNone/>
            </a:pPr>
            <a:r>
              <a:rPr lang="en-US" sz="4450" dirty="0">
                <a:solidFill>
                  <a:srgbClr val="F2E782"/>
                </a:solidFill>
                <a:latin typeface="Prata" pitchFamily="34" charset="0"/>
                <a:ea typeface="Prata" pitchFamily="34" charset="-122"/>
                <a:cs typeface="Prata" pitchFamily="34" charset="-120"/>
              </a:rPr>
              <a:t>Player Demographics &amp; Behavioral Patterns</a:t>
            </a:r>
            <a:endParaRPr lang="en-US" sz="4450" dirty="0"/>
          </a:p>
        </p:txBody>
      </p:sp>
      <p:pic>
        <p:nvPicPr>
          <p:cNvPr id="3" name="Image 0" descr="preencoded.png">    </p:cNvPr>
          <p:cNvPicPr>
            <a:picLocks noChangeAspect="1"/>
          </p:cNvPicPr>
          <p:nvPr/>
        </p:nvPicPr>
        <p:blipFill>
          <a:blip r:embed="rId1"/>
          <a:stretch>
            <a:fillRect/>
          </a:stretch>
        </p:blipFill>
        <p:spPr>
          <a:xfrm>
            <a:off x="793790" y="2176582"/>
            <a:ext cx="4800600" cy="3581400"/>
          </a:xfrm>
          <a:prstGeom prst="rect">
            <a:avLst/>
          </a:prstGeom>
        </p:spPr>
      </p:pic>
      <p:pic>
        <p:nvPicPr>
          <p:cNvPr id="4" name="Image 1" descr="preencoded.png">    </p:cNvPr>
          <p:cNvPicPr>
            <a:picLocks noChangeAspect="1"/>
          </p:cNvPicPr>
          <p:nvPr/>
        </p:nvPicPr>
        <p:blipFill>
          <a:blip r:embed="rId2"/>
          <a:stretch>
            <a:fillRect/>
          </a:stretch>
        </p:blipFill>
        <p:spPr>
          <a:xfrm>
            <a:off x="7599521" y="2176582"/>
            <a:ext cx="4800600" cy="3581400"/>
          </a:xfrm>
          <a:prstGeom prst="rect">
            <a:avLst/>
          </a:prstGeom>
        </p:spPr>
      </p:pic>
      <p:sp>
        <p:nvSpPr>
          <p:cNvPr id="5" name="Text 1"/>
          <p:cNvSpPr/>
          <p:nvPr/>
        </p:nvSpPr>
        <p:spPr>
          <a:xfrm>
            <a:off x="793790" y="6268283"/>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CFCBBF"/>
                </a:solidFill>
                <a:latin typeface="Raleway" pitchFamily="34" charset="0"/>
                <a:ea typeface="Raleway" pitchFamily="34" charset="-122"/>
                <a:cs typeface="Raleway" pitchFamily="34" charset="-120"/>
              </a:rPr>
              <a:t>Age analysis shows goal-scoring ability is relatively consistent across player ages (17-35), suggesting experience and youth both contribute to performance. Yellow card distribution reveals most players maintain discipline, with peak disciplinary issues around 4-5 cards per season.</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097161"/>
            <a:ext cx="4720233" cy="566976"/>
          </a:xfrm>
          <a:prstGeom prst="rect">
            <a:avLst/>
          </a:prstGeom>
          <a:noFill/>
          <a:ln/>
        </p:spPr>
        <p:txBody>
          <a:bodyPr wrap="none" lIns="0" tIns="0" rIns="0" bIns="0" rtlCol="0" anchor="t"/>
          <a:lstStyle/>
          <a:p>
            <a:pPr algn="l" indent="0" marL="0">
              <a:lnSpc>
                <a:spcPts val="4450"/>
              </a:lnSpc>
              <a:buNone/>
            </a:pPr>
            <a:r>
              <a:rPr lang="en-US" sz="3550" dirty="0">
                <a:solidFill>
                  <a:srgbClr val="F2E782"/>
                </a:solidFill>
                <a:latin typeface="Prata" pitchFamily="34" charset="0"/>
                <a:ea typeface="Prata" pitchFamily="34" charset="-122"/>
                <a:cs typeface="Prata" pitchFamily="34" charset="-120"/>
              </a:rPr>
              <a:t>Key Insights Revealed</a:t>
            </a:r>
            <a:endParaRPr lang="en-US" sz="3550" dirty="0"/>
          </a:p>
        </p:txBody>
      </p:sp>
      <p:pic>
        <p:nvPicPr>
          <p:cNvPr id="3" name="Image 0" descr="preencoded.png">    </p:cNvPr>
          <p:cNvPicPr>
            <a:picLocks noChangeAspect="1"/>
          </p:cNvPicPr>
          <p:nvPr/>
        </p:nvPicPr>
        <p:blipFill>
          <a:blip r:embed="rId1"/>
          <a:stretch>
            <a:fillRect/>
          </a:stretch>
        </p:blipFill>
        <p:spPr>
          <a:xfrm>
            <a:off x="1626037" y="2649022"/>
            <a:ext cx="6658213" cy="3716179"/>
          </a:xfrm>
          <a:prstGeom prst="rect">
            <a:avLst/>
          </a:prstGeom>
        </p:spPr>
      </p:pic>
      <p:sp>
        <p:nvSpPr>
          <p:cNvPr id="4" name="Shape 1"/>
          <p:cNvSpPr/>
          <p:nvPr/>
        </p:nvSpPr>
        <p:spPr>
          <a:xfrm>
            <a:off x="9566910" y="2045018"/>
            <a:ext cx="408265" cy="408265"/>
          </a:xfrm>
          <a:prstGeom prst="roundRect">
            <a:avLst>
              <a:gd name="adj" fmla="val 6667"/>
            </a:avLst>
          </a:prstGeom>
          <a:solidFill>
            <a:srgbClr val="3A3B3C"/>
          </a:solidFill>
          <a:ln/>
        </p:spPr>
      </p:sp>
      <p:sp>
        <p:nvSpPr>
          <p:cNvPr id="5" name="Text 2"/>
          <p:cNvSpPr/>
          <p:nvPr/>
        </p:nvSpPr>
        <p:spPr>
          <a:xfrm>
            <a:off x="10120312" y="2107287"/>
            <a:ext cx="2468761" cy="283488"/>
          </a:xfrm>
          <a:prstGeom prst="rect">
            <a:avLst/>
          </a:prstGeom>
          <a:noFill/>
          <a:ln/>
        </p:spPr>
        <p:txBody>
          <a:bodyPr wrap="none" lIns="0" tIns="0" rIns="0" bIns="0" rtlCol="0" anchor="t"/>
          <a:lstStyle/>
          <a:p>
            <a:pPr algn="l" indent="0" marL="0">
              <a:lnSpc>
                <a:spcPts val="2200"/>
              </a:lnSpc>
              <a:buNone/>
            </a:pPr>
            <a:r>
              <a:rPr lang="en-US" sz="1750" dirty="0">
                <a:solidFill>
                  <a:srgbClr val="CFCBBF"/>
                </a:solidFill>
                <a:latin typeface="Prata" pitchFamily="34" charset="0"/>
                <a:ea typeface="Prata" pitchFamily="34" charset="-122"/>
                <a:cs typeface="Prata" pitchFamily="34" charset="-120"/>
              </a:rPr>
              <a:t>Volume Drives Volume</a:t>
            </a:r>
            <a:endParaRPr lang="en-US" sz="1750" dirty="0"/>
          </a:p>
        </p:txBody>
      </p:sp>
      <p:sp>
        <p:nvSpPr>
          <p:cNvPr id="6" name="Text 3"/>
          <p:cNvSpPr/>
          <p:nvPr/>
        </p:nvSpPr>
        <p:spPr>
          <a:xfrm>
            <a:off x="10120312" y="2535912"/>
            <a:ext cx="3723799" cy="522446"/>
          </a:xfrm>
          <a:prstGeom prst="rect">
            <a:avLst/>
          </a:prstGeom>
          <a:noFill/>
          <a:ln/>
        </p:spPr>
        <p:txBody>
          <a:bodyPr wrap="square" lIns="0" tIns="0" rIns="0" bIns="0" rtlCol="0" anchor="t"/>
          <a:lstStyle/>
          <a:p>
            <a:pPr algn="l" indent="0" marL="0">
              <a:lnSpc>
                <a:spcPts val="2050"/>
              </a:lnSpc>
              <a:buNone/>
            </a:pPr>
            <a:r>
              <a:rPr lang="en-US" sz="1400" dirty="0">
                <a:solidFill>
                  <a:srgbClr val="CFCBBF"/>
                </a:solidFill>
                <a:latin typeface="Raleway" pitchFamily="34" charset="0"/>
                <a:ea typeface="Raleway" pitchFamily="34" charset="-122"/>
                <a:cs typeface="Raleway" pitchFamily="34" charset="-120"/>
              </a:rPr>
              <a:t>Higher match participation correlates directly with increased goal totals</a:t>
            </a:r>
            <a:endParaRPr lang="en-US" sz="1400" dirty="0"/>
          </a:p>
        </p:txBody>
      </p:sp>
      <p:sp>
        <p:nvSpPr>
          <p:cNvPr id="7" name="Shape 4"/>
          <p:cNvSpPr/>
          <p:nvPr/>
        </p:nvSpPr>
        <p:spPr>
          <a:xfrm>
            <a:off x="9566910" y="3348633"/>
            <a:ext cx="408265" cy="408265"/>
          </a:xfrm>
          <a:prstGeom prst="roundRect">
            <a:avLst>
              <a:gd name="adj" fmla="val 6667"/>
            </a:avLst>
          </a:prstGeom>
          <a:solidFill>
            <a:srgbClr val="3A3B3C"/>
          </a:solidFill>
          <a:ln/>
        </p:spPr>
      </p:sp>
      <p:sp>
        <p:nvSpPr>
          <p:cNvPr id="8" name="Text 5"/>
          <p:cNvSpPr/>
          <p:nvPr/>
        </p:nvSpPr>
        <p:spPr>
          <a:xfrm>
            <a:off x="10120312" y="3410903"/>
            <a:ext cx="2268260" cy="283488"/>
          </a:xfrm>
          <a:prstGeom prst="rect">
            <a:avLst/>
          </a:prstGeom>
          <a:noFill/>
          <a:ln/>
        </p:spPr>
        <p:txBody>
          <a:bodyPr wrap="none" lIns="0" tIns="0" rIns="0" bIns="0" rtlCol="0" anchor="t"/>
          <a:lstStyle/>
          <a:p>
            <a:pPr algn="l" indent="0" marL="0">
              <a:lnSpc>
                <a:spcPts val="2200"/>
              </a:lnSpc>
              <a:buNone/>
            </a:pPr>
            <a:r>
              <a:rPr lang="en-US" sz="1750" dirty="0">
                <a:solidFill>
                  <a:srgbClr val="CFCBBF"/>
                </a:solidFill>
                <a:latin typeface="Prata" pitchFamily="34" charset="0"/>
                <a:ea typeface="Prata" pitchFamily="34" charset="-122"/>
                <a:cs typeface="Prata" pitchFamily="34" charset="-120"/>
              </a:rPr>
              <a:t>Goals-Assists Link</a:t>
            </a:r>
            <a:endParaRPr lang="en-US" sz="1750" dirty="0"/>
          </a:p>
        </p:txBody>
      </p:sp>
      <p:sp>
        <p:nvSpPr>
          <p:cNvPr id="9" name="Text 6"/>
          <p:cNvSpPr/>
          <p:nvPr/>
        </p:nvSpPr>
        <p:spPr>
          <a:xfrm>
            <a:off x="10120312" y="3839528"/>
            <a:ext cx="3723799" cy="522446"/>
          </a:xfrm>
          <a:prstGeom prst="rect">
            <a:avLst/>
          </a:prstGeom>
          <a:noFill/>
          <a:ln/>
        </p:spPr>
        <p:txBody>
          <a:bodyPr wrap="square" lIns="0" tIns="0" rIns="0" bIns="0" rtlCol="0" anchor="t"/>
          <a:lstStyle/>
          <a:p>
            <a:pPr algn="l" indent="0" marL="0">
              <a:lnSpc>
                <a:spcPts val="2050"/>
              </a:lnSpc>
              <a:buNone/>
            </a:pPr>
            <a:r>
              <a:rPr lang="en-US" sz="1400" dirty="0">
                <a:solidFill>
                  <a:srgbClr val="CFCBBF"/>
                </a:solidFill>
                <a:latin typeface="Raleway" pitchFamily="34" charset="0"/>
                <a:ea typeface="Raleway" pitchFamily="34" charset="-122"/>
                <a:cs typeface="Raleway" pitchFamily="34" charset="-120"/>
              </a:rPr>
              <a:t>Strong positive correlation (r = 0.67) between goals scored and assists provided</a:t>
            </a:r>
            <a:endParaRPr lang="en-US" sz="1400" dirty="0"/>
          </a:p>
        </p:txBody>
      </p:sp>
      <p:sp>
        <p:nvSpPr>
          <p:cNvPr id="10" name="Shape 7"/>
          <p:cNvSpPr/>
          <p:nvPr/>
        </p:nvSpPr>
        <p:spPr>
          <a:xfrm>
            <a:off x="9566910" y="4652248"/>
            <a:ext cx="408265" cy="408265"/>
          </a:xfrm>
          <a:prstGeom prst="roundRect">
            <a:avLst>
              <a:gd name="adj" fmla="val 6667"/>
            </a:avLst>
          </a:prstGeom>
          <a:solidFill>
            <a:srgbClr val="3A3B3C"/>
          </a:solidFill>
          <a:ln/>
        </p:spPr>
      </p:sp>
      <p:sp>
        <p:nvSpPr>
          <p:cNvPr id="11" name="Text 8"/>
          <p:cNvSpPr/>
          <p:nvPr/>
        </p:nvSpPr>
        <p:spPr>
          <a:xfrm>
            <a:off x="10120312" y="4714518"/>
            <a:ext cx="2268260" cy="283488"/>
          </a:xfrm>
          <a:prstGeom prst="rect">
            <a:avLst/>
          </a:prstGeom>
          <a:noFill/>
          <a:ln/>
        </p:spPr>
        <p:txBody>
          <a:bodyPr wrap="none" lIns="0" tIns="0" rIns="0" bIns="0" rtlCol="0" anchor="t"/>
          <a:lstStyle/>
          <a:p>
            <a:pPr algn="l" indent="0" marL="0">
              <a:lnSpc>
                <a:spcPts val="2200"/>
              </a:lnSpc>
              <a:buNone/>
            </a:pPr>
            <a:r>
              <a:rPr lang="en-US" sz="1750" dirty="0">
                <a:solidFill>
                  <a:srgbClr val="CFCBBF"/>
                </a:solidFill>
                <a:latin typeface="Prata" pitchFamily="34" charset="0"/>
                <a:ea typeface="Prata" pitchFamily="34" charset="-122"/>
                <a:cs typeface="Prata" pitchFamily="34" charset="-120"/>
              </a:rPr>
              <a:t>League Variance</a:t>
            </a:r>
            <a:endParaRPr lang="en-US" sz="1750" dirty="0"/>
          </a:p>
        </p:txBody>
      </p:sp>
      <p:sp>
        <p:nvSpPr>
          <p:cNvPr id="12" name="Text 9"/>
          <p:cNvSpPr/>
          <p:nvPr/>
        </p:nvSpPr>
        <p:spPr>
          <a:xfrm>
            <a:off x="10120312" y="5143143"/>
            <a:ext cx="3723799" cy="522446"/>
          </a:xfrm>
          <a:prstGeom prst="rect">
            <a:avLst/>
          </a:prstGeom>
          <a:noFill/>
          <a:ln/>
        </p:spPr>
        <p:txBody>
          <a:bodyPr wrap="square" lIns="0" tIns="0" rIns="0" bIns="0" rtlCol="0" anchor="t"/>
          <a:lstStyle/>
          <a:p>
            <a:pPr algn="l" indent="0" marL="0">
              <a:lnSpc>
                <a:spcPts val="2050"/>
              </a:lnSpc>
              <a:buNone/>
            </a:pPr>
            <a:r>
              <a:rPr lang="en-US" sz="1400" dirty="0">
                <a:solidFill>
                  <a:srgbClr val="CFCBBF"/>
                </a:solidFill>
                <a:latin typeface="Raleway" pitchFamily="34" charset="0"/>
                <a:ea typeface="Raleway" pitchFamily="34" charset="-122"/>
                <a:cs typeface="Raleway" pitchFamily="34" charset="-120"/>
              </a:rPr>
              <a:t>Performance efficiency varies significantly across different competitive leagues</a:t>
            </a:r>
            <a:endParaRPr lang="en-US" sz="1400" dirty="0"/>
          </a:p>
        </p:txBody>
      </p:sp>
      <p:sp>
        <p:nvSpPr>
          <p:cNvPr id="13" name="Shape 10"/>
          <p:cNvSpPr/>
          <p:nvPr/>
        </p:nvSpPr>
        <p:spPr>
          <a:xfrm>
            <a:off x="9566910" y="5955863"/>
            <a:ext cx="408265" cy="408265"/>
          </a:xfrm>
          <a:prstGeom prst="roundRect">
            <a:avLst>
              <a:gd name="adj" fmla="val 6667"/>
            </a:avLst>
          </a:prstGeom>
          <a:solidFill>
            <a:srgbClr val="3A3B3C"/>
          </a:solidFill>
          <a:ln/>
        </p:spPr>
      </p:sp>
      <p:sp>
        <p:nvSpPr>
          <p:cNvPr id="14" name="Text 11"/>
          <p:cNvSpPr/>
          <p:nvPr/>
        </p:nvSpPr>
        <p:spPr>
          <a:xfrm>
            <a:off x="10120312" y="6018133"/>
            <a:ext cx="2268260" cy="283488"/>
          </a:xfrm>
          <a:prstGeom prst="rect">
            <a:avLst/>
          </a:prstGeom>
          <a:noFill/>
          <a:ln/>
        </p:spPr>
        <p:txBody>
          <a:bodyPr wrap="none" lIns="0" tIns="0" rIns="0" bIns="0" rtlCol="0" anchor="t"/>
          <a:lstStyle/>
          <a:p>
            <a:pPr algn="l" indent="0" marL="0">
              <a:lnSpc>
                <a:spcPts val="2200"/>
              </a:lnSpc>
              <a:buNone/>
            </a:pPr>
            <a:r>
              <a:rPr lang="en-US" sz="1750" dirty="0">
                <a:solidFill>
                  <a:srgbClr val="CFCBBF"/>
                </a:solidFill>
                <a:latin typeface="Prata" pitchFamily="34" charset="0"/>
                <a:ea typeface="Prata" pitchFamily="34" charset="-122"/>
                <a:cs typeface="Prata" pitchFamily="34" charset="-120"/>
              </a:rPr>
              <a:t>Accuracy Matters</a:t>
            </a:r>
            <a:endParaRPr lang="en-US" sz="1750" dirty="0"/>
          </a:p>
        </p:txBody>
      </p:sp>
      <p:sp>
        <p:nvSpPr>
          <p:cNvPr id="15" name="Text 12"/>
          <p:cNvSpPr/>
          <p:nvPr/>
        </p:nvSpPr>
        <p:spPr>
          <a:xfrm>
            <a:off x="10120312" y="6446758"/>
            <a:ext cx="3723799" cy="522446"/>
          </a:xfrm>
          <a:prstGeom prst="rect">
            <a:avLst/>
          </a:prstGeom>
          <a:noFill/>
          <a:ln/>
        </p:spPr>
        <p:txBody>
          <a:bodyPr wrap="square" lIns="0" tIns="0" rIns="0" bIns="0" rtlCol="0" anchor="t"/>
          <a:lstStyle/>
          <a:p>
            <a:pPr algn="l" indent="0" marL="0">
              <a:lnSpc>
                <a:spcPts val="2050"/>
              </a:lnSpc>
              <a:buNone/>
            </a:pPr>
            <a:r>
              <a:rPr lang="en-US" sz="1400" dirty="0">
                <a:solidFill>
                  <a:srgbClr val="CFCBBF"/>
                </a:solidFill>
                <a:latin typeface="Raleway" pitchFamily="34" charset="0"/>
                <a:ea typeface="Raleway" pitchFamily="34" charset="-122"/>
                <a:cs typeface="Raleway" pitchFamily="34" charset="-120"/>
              </a:rPr>
              <a:t>Shooting accuracy percentage strongly impacts final goal totals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772716"/>
            <a:ext cx="7323892" cy="673418"/>
          </a:xfrm>
          <a:prstGeom prst="rect">
            <a:avLst/>
          </a:prstGeom>
          <a:noFill/>
          <a:ln/>
        </p:spPr>
        <p:txBody>
          <a:bodyPr wrap="none" lIns="0" tIns="0" rIns="0" bIns="0" rtlCol="0" anchor="t"/>
          <a:lstStyle/>
          <a:p>
            <a:pPr algn="l" indent="0" marL="0">
              <a:lnSpc>
                <a:spcPts val="5300"/>
              </a:lnSpc>
              <a:buNone/>
            </a:pPr>
            <a:r>
              <a:rPr lang="en-US" sz="4200" dirty="0">
                <a:solidFill>
                  <a:srgbClr val="F2E782"/>
                </a:solidFill>
                <a:latin typeface="Prata" pitchFamily="34" charset="0"/>
                <a:ea typeface="Prata" pitchFamily="34" charset="-122"/>
                <a:cs typeface="Prata" pitchFamily="34" charset="-120"/>
              </a:rPr>
              <a:t>Strategic Recommendations</a:t>
            </a:r>
            <a:endParaRPr lang="en-US" sz="4200" dirty="0"/>
          </a:p>
        </p:txBody>
      </p:sp>
      <p:sp>
        <p:nvSpPr>
          <p:cNvPr id="4" name="Shape 1"/>
          <p:cNvSpPr/>
          <p:nvPr/>
        </p:nvSpPr>
        <p:spPr>
          <a:xfrm>
            <a:off x="793790" y="1753195"/>
            <a:ext cx="3675817" cy="3085624"/>
          </a:xfrm>
          <a:prstGeom prst="roundRect">
            <a:avLst>
              <a:gd name="adj" fmla="val 1048"/>
            </a:avLst>
          </a:prstGeom>
          <a:solidFill>
            <a:srgbClr val="3A3B3C"/>
          </a:solidFill>
          <a:ln/>
        </p:spPr>
      </p:sp>
      <p:pic>
        <p:nvPicPr>
          <p:cNvPr id="5" name="Image 1" descr="preencoded.png">    </p:cNvPr>
          <p:cNvPicPr>
            <a:picLocks noChangeAspect="1"/>
          </p:cNvPicPr>
          <p:nvPr/>
        </p:nvPicPr>
        <p:blipFill>
          <a:blip r:embed="rId2"/>
          <a:stretch>
            <a:fillRect/>
          </a:stretch>
        </p:blipFill>
        <p:spPr>
          <a:xfrm>
            <a:off x="1009174" y="1968579"/>
            <a:ext cx="646390" cy="646390"/>
          </a:xfrm>
          <a:prstGeom prst="rect">
            <a:avLst/>
          </a:prstGeom>
        </p:spPr>
      </p:pic>
      <p:pic>
        <p:nvPicPr>
          <p:cNvPr id="6"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86934" y="2146221"/>
            <a:ext cx="290870" cy="290870"/>
          </a:xfrm>
          <a:prstGeom prst="rect">
            <a:avLst/>
          </a:prstGeom>
        </p:spPr>
      </p:pic>
      <p:sp>
        <p:nvSpPr>
          <p:cNvPr id="7" name="Text 2"/>
          <p:cNvSpPr/>
          <p:nvPr/>
        </p:nvSpPr>
        <p:spPr>
          <a:xfrm>
            <a:off x="1009174" y="2819638"/>
            <a:ext cx="2693551" cy="336590"/>
          </a:xfrm>
          <a:prstGeom prst="rect">
            <a:avLst/>
          </a:prstGeom>
          <a:noFill/>
          <a:ln/>
        </p:spPr>
        <p:txBody>
          <a:bodyPr wrap="none" lIns="0" tIns="0" rIns="0" bIns="0" rtlCol="0" anchor="t"/>
          <a:lstStyle/>
          <a:p>
            <a:pPr algn="l" indent="0" marL="0">
              <a:lnSpc>
                <a:spcPts val="2650"/>
              </a:lnSpc>
              <a:buNone/>
            </a:pPr>
            <a:r>
              <a:rPr lang="en-US" sz="2100" dirty="0">
                <a:solidFill>
                  <a:srgbClr val="CFCBBF"/>
                </a:solidFill>
                <a:latin typeface="Prata" pitchFamily="34" charset="0"/>
                <a:ea typeface="Prata" pitchFamily="34" charset="-122"/>
                <a:cs typeface="Prata" pitchFamily="34" charset="-120"/>
              </a:rPr>
              <a:t>Prioritize Efficiency</a:t>
            </a:r>
            <a:endParaRPr lang="en-US" sz="2100" dirty="0"/>
          </a:p>
        </p:txBody>
      </p:sp>
      <p:sp>
        <p:nvSpPr>
          <p:cNvPr id="8" name="Text 3"/>
          <p:cNvSpPr/>
          <p:nvPr/>
        </p:nvSpPr>
        <p:spPr>
          <a:xfrm>
            <a:off x="1009174" y="3278981"/>
            <a:ext cx="3245048" cy="1344454"/>
          </a:xfrm>
          <a:prstGeom prst="rect">
            <a:avLst/>
          </a:prstGeom>
          <a:noFill/>
          <a:ln/>
        </p:spPr>
        <p:txBody>
          <a:bodyPr wrap="square" lIns="0" tIns="0" rIns="0" bIns="0" rtlCol="0" anchor="t"/>
          <a:lstStyle/>
          <a:p>
            <a:pPr algn="l" indent="0" marL="0">
              <a:lnSpc>
                <a:spcPts val="2600"/>
              </a:lnSpc>
              <a:buNone/>
            </a:pPr>
            <a:r>
              <a:rPr lang="en-US" sz="1650" dirty="0">
                <a:solidFill>
                  <a:srgbClr val="CFCBBF"/>
                </a:solidFill>
                <a:latin typeface="Raleway" pitchFamily="34" charset="0"/>
                <a:ea typeface="Raleway" pitchFamily="34" charset="-122"/>
                <a:cs typeface="Raleway" pitchFamily="34" charset="-120"/>
              </a:rPr>
              <a:t>Focus scouting and recruitment on players with high goals-per-match ratios rather than total goals alone</a:t>
            </a:r>
            <a:endParaRPr lang="en-US" sz="1650" dirty="0"/>
          </a:p>
        </p:txBody>
      </p:sp>
      <p:sp>
        <p:nvSpPr>
          <p:cNvPr id="9" name="Shape 4"/>
          <p:cNvSpPr/>
          <p:nvPr/>
        </p:nvSpPr>
        <p:spPr>
          <a:xfrm>
            <a:off x="4674275" y="1753195"/>
            <a:ext cx="3675936" cy="3085624"/>
          </a:xfrm>
          <a:prstGeom prst="roundRect">
            <a:avLst>
              <a:gd name="adj" fmla="val 1048"/>
            </a:avLst>
          </a:prstGeom>
          <a:solidFill>
            <a:srgbClr val="3A3B3C"/>
          </a:solidFill>
          <a:ln/>
        </p:spPr>
      </p:sp>
      <p:pic>
        <p:nvPicPr>
          <p:cNvPr id="10" name="Image 3" descr="preencoded.png">    </p:cNvPr>
          <p:cNvPicPr>
            <a:picLocks noChangeAspect="1"/>
          </p:cNvPicPr>
          <p:nvPr/>
        </p:nvPicPr>
        <p:blipFill>
          <a:blip r:embed="rId5"/>
          <a:stretch>
            <a:fillRect/>
          </a:stretch>
        </p:blipFill>
        <p:spPr>
          <a:xfrm>
            <a:off x="4889659" y="1968579"/>
            <a:ext cx="646390" cy="646390"/>
          </a:xfrm>
          <a:prstGeom prst="rect">
            <a:avLst/>
          </a:prstGeom>
        </p:spPr>
      </p:pic>
      <p:pic>
        <p:nvPicPr>
          <p:cNvPr id="11" name="Image 4"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067419" y="2146221"/>
            <a:ext cx="290870" cy="290870"/>
          </a:xfrm>
          <a:prstGeom prst="rect">
            <a:avLst/>
          </a:prstGeom>
        </p:spPr>
      </p:pic>
      <p:sp>
        <p:nvSpPr>
          <p:cNvPr id="12" name="Text 5"/>
          <p:cNvSpPr/>
          <p:nvPr/>
        </p:nvSpPr>
        <p:spPr>
          <a:xfrm>
            <a:off x="4889659" y="2819638"/>
            <a:ext cx="2693551" cy="336590"/>
          </a:xfrm>
          <a:prstGeom prst="rect">
            <a:avLst/>
          </a:prstGeom>
          <a:noFill/>
          <a:ln/>
        </p:spPr>
        <p:txBody>
          <a:bodyPr wrap="none" lIns="0" tIns="0" rIns="0" bIns="0" rtlCol="0" anchor="t"/>
          <a:lstStyle/>
          <a:p>
            <a:pPr algn="l" indent="0" marL="0">
              <a:lnSpc>
                <a:spcPts val="2650"/>
              </a:lnSpc>
              <a:buNone/>
            </a:pPr>
            <a:r>
              <a:rPr lang="en-US" sz="2100" dirty="0">
                <a:solidFill>
                  <a:srgbClr val="CFCBBF"/>
                </a:solidFill>
                <a:latin typeface="Prata" pitchFamily="34" charset="0"/>
                <a:ea typeface="Prata" pitchFamily="34" charset="-122"/>
                <a:cs typeface="Prata" pitchFamily="34" charset="-120"/>
              </a:rPr>
              <a:t>Improve Finishing</a:t>
            </a:r>
            <a:endParaRPr lang="en-US" sz="2100" dirty="0"/>
          </a:p>
        </p:txBody>
      </p:sp>
      <p:sp>
        <p:nvSpPr>
          <p:cNvPr id="13" name="Text 6"/>
          <p:cNvSpPr/>
          <p:nvPr/>
        </p:nvSpPr>
        <p:spPr>
          <a:xfrm>
            <a:off x="4889659" y="3278981"/>
            <a:ext cx="3245168" cy="1008340"/>
          </a:xfrm>
          <a:prstGeom prst="rect">
            <a:avLst/>
          </a:prstGeom>
          <a:noFill/>
          <a:ln/>
        </p:spPr>
        <p:txBody>
          <a:bodyPr wrap="square" lIns="0" tIns="0" rIns="0" bIns="0" rtlCol="0" anchor="t"/>
          <a:lstStyle/>
          <a:p>
            <a:pPr algn="l" indent="0" marL="0">
              <a:lnSpc>
                <a:spcPts val="2600"/>
              </a:lnSpc>
              <a:buNone/>
            </a:pPr>
            <a:r>
              <a:rPr lang="en-US" sz="1650" dirty="0">
                <a:solidFill>
                  <a:srgbClr val="CFCBBF"/>
                </a:solidFill>
                <a:latin typeface="Raleway" pitchFamily="34" charset="0"/>
                <a:ea typeface="Raleway" pitchFamily="34" charset="-122"/>
                <a:cs typeface="Raleway" pitchFamily="34" charset="-120"/>
              </a:rPr>
              <a:t>Implement shooting accuracy training programs to convert more chances into goals</a:t>
            </a:r>
            <a:endParaRPr lang="en-US" sz="1650" dirty="0"/>
          </a:p>
        </p:txBody>
      </p:sp>
      <p:sp>
        <p:nvSpPr>
          <p:cNvPr id="14" name="Shape 7"/>
          <p:cNvSpPr/>
          <p:nvPr/>
        </p:nvSpPr>
        <p:spPr>
          <a:xfrm>
            <a:off x="793790" y="5043488"/>
            <a:ext cx="7556421" cy="2413397"/>
          </a:xfrm>
          <a:prstGeom prst="roundRect">
            <a:avLst>
              <a:gd name="adj" fmla="val 1339"/>
            </a:avLst>
          </a:prstGeom>
          <a:solidFill>
            <a:srgbClr val="3A3B3C"/>
          </a:solidFill>
          <a:ln/>
        </p:spPr>
      </p:sp>
      <p:pic>
        <p:nvPicPr>
          <p:cNvPr id="15" name="Image 5" descr="preencoded.png">    </p:cNvPr>
          <p:cNvPicPr>
            <a:picLocks noChangeAspect="1"/>
          </p:cNvPicPr>
          <p:nvPr/>
        </p:nvPicPr>
        <p:blipFill>
          <a:blip r:embed="rId8"/>
          <a:stretch>
            <a:fillRect/>
          </a:stretch>
        </p:blipFill>
        <p:spPr>
          <a:xfrm>
            <a:off x="1009174" y="5258872"/>
            <a:ext cx="646390" cy="646390"/>
          </a:xfrm>
          <a:prstGeom prst="rect">
            <a:avLst/>
          </a:prstGeom>
        </p:spPr>
      </p:pic>
      <p:pic>
        <p:nvPicPr>
          <p:cNvPr id="16" name="Image 6"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86934" y="5436513"/>
            <a:ext cx="290870" cy="290870"/>
          </a:xfrm>
          <a:prstGeom prst="rect">
            <a:avLst/>
          </a:prstGeom>
        </p:spPr>
      </p:pic>
      <p:sp>
        <p:nvSpPr>
          <p:cNvPr id="17" name="Text 8"/>
          <p:cNvSpPr/>
          <p:nvPr/>
        </p:nvSpPr>
        <p:spPr>
          <a:xfrm>
            <a:off x="1009174" y="6109930"/>
            <a:ext cx="3435310" cy="336590"/>
          </a:xfrm>
          <a:prstGeom prst="rect">
            <a:avLst/>
          </a:prstGeom>
          <a:noFill/>
          <a:ln/>
        </p:spPr>
        <p:txBody>
          <a:bodyPr wrap="none" lIns="0" tIns="0" rIns="0" bIns="0" rtlCol="0" anchor="t"/>
          <a:lstStyle/>
          <a:p>
            <a:pPr algn="l" indent="0" marL="0">
              <a:lnSpc>
                <a:spcPts val="2650"/>
              </a:lnSpc>
              <a:buNone/>
            </a:pPr>
            <a:r>
              <a:rPr lang="en-US" sz="2100" dirty="0">
                <a:solidFill>
                  <a:srgbClr val="CFCBBF"/>
                </a:solidFill>
                <a:latin typeface="Prata" pitchFamily="34" charset="0"/>
                <a:ea typeface="Prata" pitchFamily="34" charset="-122"/>
                <a:cs typeface="Prata" pitchFamily="34" charset="-120"/>
              </a:rPr>
              <a:t>League-Specific Strategies</a:t>
            </a:r>
            <a:endParaRPr lang="en-US" sz="2100" dirty="0"/>
          </a:p>
        </p:txBody>
      </p:sp>
      <p:sp>
        <p:nvSpPr>
          <p:cNvPr id="18" name="Text 9"/>
          <p:cNvSpPr/>
          <p:nvPr/>
        </p:nvSpPr>
        <p:spPr>
          <a:xfrm>
            <a:off x="1009174" y="6569273"/>
            <a:ext cx="7125653" cy="672227"/>
          </a:xfrm>
          <a:prstGeom prst="rect">
            <a:avLst/>
          </a:prstGeom>
          <a:noFill/>
          <a:ln/>
        </p:spPr>
        <p:txBody>
          <a:bodyPr wrap="square" lIns="0" tIns="0" rIns="0" bIns="0" rtlCol="0" anchor="t"/>
          <a:lstStyle/>
          <a:p>
            <a:pPr algn="l" indent="0" marL="0">
              <a:lnSpc>
                <a:spcPts val="2600"/>
              </a:lnSpc>
              <a:buNone/>
            </a:pPr>
            <a:r>
              <a:rPr lang="en-US" sz="1650" dirty="0">
                <a:solidFill>
                  <a:srgbClr val="CFCBBF"/>
                </a:solidFill>
                <a:latin typeface="Raleway" pitchFamily="34" charset="0"/>
                <a:ea typeface="Raleway" pitchFamily="34" charset="-122"/>
                <a:cs typeface="Raleway" pitchFamily="34" charset="-120"/>
              </a:rPr>
              <a:t>Analyze performance patterns unique to each league when making tactical decisions</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850344"/>
            <a:ext cx="6765250" cy="708779"/>
          </a:xfrm>
          <a:prstGeom prst="rect">
            <a:avLst/>
          </a:prstGeom>
          <a:noFill/>
          <a:ln/>
        </p:spPr>
        <p:txBody>
          <a:bodyPr wrap="none" lIns="0" tIns="0" rIns="0" bIns="0" rtlCol="0" anchor="t"/>
          <a:lstStyle/>
          <a:p>
            <a:pPr algn="l" indent="0" marL="0">
              <a:lnSpc>
                <a:spcPts val="5550"/>
              </a:lnSpc>
              <a:buNone/>
            </a:pPr>
            <a:r>
              <a:rPr lang="en-US" sz="4450" dirty="0">
                <a:solidFill>
                  <a:srgbClr val="F2E782"/>
                </a:solidFill>
                <a:latin typeface="Prata" pitchFamily="34" charset="0"/>
                <a:ea typeface="Prata" pitchFamily="34" charset="-122"/>
                <a:cs typeface="Prata" pitchFamily="34" charset="-120"/>
              </a:rPr>
              <a:t>Conclusion &amp; Next Steps</a:t>
            </a:r>
            <a:endParaRPr lang="en-US" sz="4450" dirty="0"/>
          </a:p>
        </p:txBody>
      </p:sp>
      <p:sp>
        <p:nvSpPr>
          <p:cNvPr id="4" name="Text 1"/>
          <p:cNvSpPr/>
          <p:nvPr/>
        </p:nvSpPr>
        <p:spPr>
          <a:xfrm>
            <a:off x="793790" y="212609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2E782"/>
                </a:solidFill>
                <a:latin typeface="Prata" pitchFamily="34" charset="0"/>
                <a:ea typeface="Prata" pitchFamily="34" charset="-122"/>
                <a:cs typeface="Prata" pitchFamily="34" charset="-120"/>
              </a:rPr>
              <a:t>Key Takeaways</a:t>
            </a:r>
            <a:endParaRPr lang="en-US" sz="2200" dirty="0"/>
          </a:p>
        </p:txBody>
      </p:sp>
      <p:sp>
        <p:nvSpPr>
          <p:cNvPr id="5" name="Text 2"/>
          <p:cNvSpPr/>
          <p:nvPr/>
        </p:nvSpPr>
        <p:spPr>
          <a:xfrm>
            <a:off x="793790" y="2707243"/>
            <a:ext cx="3501509" cy="459271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Data analytics delivers actionable insights into player performance evaluation</a:t>
            </a:r>
            <a:endParaRPr lang="en-US" sz="1750" dirty="0"/>
          </a:p>
          <a:p>
            <a:pPr algn="l" marL="342900" indent="-342900">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Statistical methods reveal patterns invisible to traditional scouting</a:t>
            </a:r>
            <a:endParaRPr lang="en-US" sz="1750" dirty="0"/>
          </a:p>
          <a:p>
            <a:pPr algn="l" marL="342900" indent="-342900">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Efficiency metrics outperform raw totals in predicting future success</a:t>
            </a:r>
            <a:endParaRPr lang="en-US" sz="1750" dirty="0"/>
          </a:p>
          <a:p>
            <a:pPr algn="l" marL="342900" indent="-342900">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League context significantly impacts performance interpretation</a:t>
            </a:r>
            <a:endParaRPr lang="en-US" sz="1750" dirty="0"/>
          </a:p>
        </p:txBody>
      </p:sp>
      <p:sp>
        <p:nvSpPr>
          <p:cNvPr id="6" name="Text 3"/>
          <p:cNvSpPr/>
          <p:nvPr/>
        </p:nvSpPr>
        <p:spPr>
          <a:xfrm>
            <a:off x="4856321" y="212609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2E782"/>
                </a:solidFill>
                <a:latin typeface="Prata" pitchFamily="34" charset="0"/>
                <a:ea typeface="Prata" pitchFamily="34" charset="-122"/>
                <a:cs typeface="Prata" pitchFamily="34" charset="-120"/>
              </a:rPr>
              <a:t>Future Applications</a:t>
            </a:r>
            <a:endParaRPr lang="en-US" sz="2200" dirty="0"/>
          </a:p>
        </p:txBody>
      </p:sp>
      <p:sp>
        <p:nvSpPr>
          <p:cNvPr id="7" name="Text 4"/>
          <p:cNvSpPr/>
          <p:nvPr/>
        </p:nvSpPr>
        <p:spPr>
          <a:xfrm>
            <a:off x="4856321" y="2707243"/>
            <a:ext cx="3501509" cy="3141107"/>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Predictive modeling for future performance forecasting</a:t>
            </a:r>
            <a:endParaRPr lang="en-US" sz="1750" dirty="0"/>
          </a:p>
          <a:p>
            <a:pPr algn="l" marL="342900" indent="-342900">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Injury risk analysis using workload metrics</a:t>
            </a:r>
            <a:endParaRPr lang="en-US" sz="1750" dirty="0"/>
          </a:p>
          <a:p>
            <a:pPr algn="l" marL="342900" indent="-342900">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Player comparison algorithms for transfer decisions</a:t>
            </a:r>
            <a:endParaRPr lang="en-US" sz="1750" dirty="0"/>
          </a:p>
          <a:p>
            <a:pPr algn="l" marL="342900" indent="-342900">
              <a:lnSpc>
                <a:spcPts val="2850"/>
              </a:lnSpc>
              <a:buSzPct val="100000"/>
              <a:buChar char="•"/>
            </a:pPr>
            <a:r>
              <a:rPr lang="en-US" sz="1750" dirty="0">
                <a:solidFill>
                  <a:srgbClr val="CFCBBF"/>
                </a:solidFill>
                <a:latin typeface="Raleway" pitchFamily="34" charset="0"/>
                <a:ea typeface="Raleway" pitchFamily="34" charset="-122"/>
                <a:cs typeface="Raleway" pitchFamily="34" charset="-120"/>
              </a:rPr>
              <a:t>Real-time performance tracking integration</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455301"/>
            <a:ext cx="7556421" cy="4253032"/>
          </a:xfrm>
          <a:prstGeom prst="rect">
            <a:avLst/>
          </a:prstGeom>
          <a:noFill/>
          <a:ln/>
        </p:spPr>
        <p:txBody>
          <a:bodyPr wrap="square" lIns="0" tIns="0" rIns="0" bIns="0" rtlCol="0" anchor="t"/>
          <a:lstStyle/>
          <a:p>
            <a:pPr algn="l" indent="0" marL="0">
              <a:lnSpc>
                <a:spcPts val="11150"/>
              </a:lnSpc>
              <a:buNone/>
            </a:pPr>
            <a:r>
              <a:rPr lang="en-US" sz="8900" dirty="0">
                <a:solidFill>
                  <a:srgbClr val="F2E782"/>
                </a:solidFill>
                <a:latin typeface="Prata" pitchFamily="34" charset="0"/>
                <a:ea typeface="Prata" pitchFamily="34" charset="-122"/>
                <a:cs typeface="Prata" pitchFamily="34" charset="-120"/>
              </a:rPr>
              <a:t>Data-Driven Decisions Win Games</a:t>
            </a:r>
            <a:endParaRPr lang="en-US" sz="8900" dirty="0"/>
          </a:p>
        </p:txBody>
      </p:sp>
      <p:sp>
        <p:nvSpPr>
          <p:cNvPr id="4" name="Text 1"/>
          <p:cNvSpPr/>
          <p:nvPr/>
        </p:nvSpPr>
        <p:spPr>
          <a:xfrm>
            <a:off x="6280190" y="6048494"/>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CFCBBF"/>
                </a:solidFill>
                <a:latin typeface="Raleway" pitchFamily="34" charset="0"/>
                <a:ea typeface="Raleway" pitchFamily="34" charset="-122"/>
                <a:cs typeface="Raleway" pitchFamily="34" charset="-120"/>
              </a:rPr>
              <a:t>Football analytics transforms subjective evaluations into objective, measurable insights that drive competitive advantage</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2026-03-30T08:26:41Z</dcterms:created>
  <dcterms:modified xsi:type="dcterms:W3CDTF">2026-03-30T08:26:41Z</dcterms:modified>
</cp:coreProperties>
</file>